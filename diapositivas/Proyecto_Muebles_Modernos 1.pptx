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Seleccion de Productos</c:v>
                </c:pt>
              </c:strCache>
            </c:strRef>
          </c:tx>
          <c:spPr>
            <a:solidFill>
              <a:srgbClr val="A7BEAE"/>
            </a:solidFill>
            <a:effectLst/>
          </c:spPr>
          <c:invertIfNegative val="0"/>
          <c:cat>
            <c:strRef>
              <c:f>Sheet1!$A$2:$A$5</c:f>
              <c:strCache>
                <c:ptCount val="4"/>
                <c:pt idx="0">
                  <c:v>Error %</c:v>
                </c:pt>
                <c:pt idx="1">
                  <c:v>Tiempo Prom (s)</c:v>
                </c:pt>
                <c:pt idx="2">
                  <c:v>Throughput (r/s)</c:v>
                </c:pt>
                <c:pt idx="3">
                  <c:v>APDEX x100</c:v>
                </c:pt>
              </c:strCache>
            </c:strRef>
          </c:cat>
          <c:val>
            <c:numRef>
              <c:f>Sheet1!$B$2:$B$5</c:f>
              <c:numCache>
                <c:formatCode>General</c:formatCode>
                <c:ptCount val="4"/>
                <c:pt idx="0">
                  <c:v>0</c:v>
                </c:pt>
                <c:pt idx="1">
                  <c:v>262</c:v>
                </c:pt>
                <c:pt idx="2">
                  <c:v>37.5</c:v>
                </c:pt>
                <c:pt idx="3">
                  <c:v>93.9</c:v>
                </c:pt>
              </c:numCache>
            </c:numRef>
          </c:val>
          <c:extLst>
            <c:ext xmlns:c16="http://schemas.microsoft.com/office/drawing/2014/chart" uri="{C3380CC4-5D6E-409C-BE32-E72D297353CC}">
              <c16:uniqueId val="{00000000-1FC9-42F1-B9BB-3DC88B26C691}"/>
            </c:ext>
          </c:extLst>
        </c:ser>
        <c:ser>
          <c:idx val="1"/>
          <c:order val="1"/>
          <c:tx>
            <c:strRef>
              <c:f>Sheet1!$C$1</c:f>
              <c:strCache>
                <c:ptCount val="1"/>
                <c:pt idx="0">
                  <c:v>Flujo de Pago</c:v>
                </c:pt>
              </c:strCache>
            </c:strRef>
          </c:tx>
          <c:spPr>
            <a:solidFill>
              <a:srgbClr val="B85042"/>
            </a:solidFill>
            <a:effectLst/>
          </c:spPr>
          <c:invertIfNegative val="0"/>
          <c:cat>
            <c:strRef>
              <c:f>Sheet1!$A$2:$A$5</c:f>
              <c:strCache>
                <c:ptCount val="4"/>
                <c:pt idx="0">
                  <c:v>Error %</c:v>
                </c:pt>
                <c:pt idx="1">
                  <c:v>Tiempo Prom (s)</c:v>
                </c:pt>
                <c:pt idx="2">
                  <c:v>Throughput (r/s)</c:v>
                </c:pt>
                <c:pt idx="3">
                  <c:v>APDEX x100</c:v>
                </c:pt>
              </c:strCache>
            </c:strRef>
          </c:cat>
          <c:val>
            <c:numRef>
              <c:f>Sheet1!$C$2:$C$5</c:f>
              <c:numCache>
                <c:formatCode>General</c:formatCode>
                <c:ptCount val="4"/>
                <c:pt idx="0">
                  <c:v>41.4</c:v>
                </c:pt>
                <c:pt idx="1">
                  <c:v>7331</c:v>
                </c:pt>
                <c:pt idx="2">
                  <c:v>21.7</c:v>
                </c:pt>
                <c:pt idx="3">
                  <c:v>22.3</c:v>
                </c:pt>
              </c:numCache>
            </c:numRef>
          </c:val>
          <c:extLst>
            <c:ext xmlns:c16="http://schemas.microsoft.com/office/drawing/2014/chart" uri="{C3380CC4-5D6E-409C-BE32-E72D297353CC}">
              <c16:uniqueId val="{00000001-1FC9-42F1-B9BB-3DC88B26C69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5B4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5B4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5103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B0E"/>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B85042">
              <a:alpha val="85000"/>
            </a:srgbClr>
          </a:solidFill>
          <a:ln/>
        </p:spPr>
      </p:sp>
      <p:sp>
        <p:nvSpPr>
          <p:cNvPr id="3" name="Shape 1"/>
          <p:cNvSpPr/>
          <p:nvPr/>
        </p:nvSpPr>
        <p:spPr>
          <a:xfrm>
            <a:off x="6858000" y="0"/>
            <a:ext cx="2286000" cy="5143500"/>
          </a:xfrm>
          <a:prstGeom prst="rect">
            <a:avLst/>
          </a:prstGeom>
          <a:solidFill>
            <a:srgbClr val="B85042">
              <a:alpha val="75000"/>
            </a:srgbClr>
          </a:solidFill>
          <a:ln/>
        </p:spPr>
      </p:sp>
      <p:pic>
        <p:nvPicPr>
          <p:cNvPr id="4" name="Image 0" descr="preencoded.png"/>
          <p:cNvPicPr>
            <a:picLocks noChangeAspect="1"/>
          </p:cNvPicPr>
          <p:nvPr/>
        </p:nvPicPr>
        <p:blipFill>
          <a:blip r:embed="rId3"/>
          <a:stretch>
            <a:fillRect/>
          </a:stretch>
        </p:blipFill>
        <p:spPr>
          <a:xfrm>
            <a:off x="7315200" y="1371600"/>
            <a:ext cx="1097280" cy="1097280"/>
          </a:xfrm>
          <a:prstGeom prst="rect">
            <a:avLst/>
          </a:prstGeom>
        </p:spPr>
      </p:pic>
      <p:pic>
        <p:nvPicPr>
          <p:cNvPr id="5" name="Image 1" descr="preencoded.png"/>
          <p:cNvPicPr>
            <a:picLocks noChangeAspect="1"/>
          </p:cNvPicPr>
          <p:nvPr/>
        </p:nvPicPr>
        <p:blipFill>
          <a:blip r:embed="rId4"/>
          <a:stretch>
            <a:fillRect/>
          </a:stretch>
        </p:blipFill>
        <p:spPr>
          <a:xfrm>
            <a:off x="7772400" y="2743200"/>
            <a:ext cx="731520" cy="731520"/>
          </a:xfrm>
          <a:prstGeom prst="rect">
            <a:avLst/>
          </a:prstGeom>
        </p:spPr>
      </p:pic>
      <p:sp>
        <p:nvSpPr>
          <p:cNvPr id="6" name="Text 2"/>
          <p:cNvSpPr/>
          <p:nvPr/>
        </p:nvSpPr>
        <p:spPr>
          <a:xfrm>
            <a:off x="731520" y="914400"/>
            <a:ext cx="5943600" cy="2286000"/>
          </a:xfrm>
          <a:prstGeom prst="rect">
            <a:avLst/>
          </a:prstGeom>
          <a:noFill/>
          <a:ln/>
        </p:spPr>
        <p:txBody>
          <a:bodyPr wrap="square" lIns="0" tIns="0" rIns="0" bIns="0" rtlCol="0" anchor="ctr"/>
          <a:lstStyle/>
          <a:p>
            <a:pPr marL="0" indent="0">
              <a:lnSpc>
                <a:spcPct val="110000"/>
              </a:lnSpc>
              <a:buNone/>
            </a:pPr>
            <a:r>
              <a:rPr lang="en-US" sz="4400" b="1" dirty="0">
                <a:solidFill>
                  <a:srgbClr val="FFFFFF"/>
                </a:solidFill>
                <a:latin typeface="Georgia" pitchFamily="34" charset="0"/>
                <a:ea typeface="Georgia" pitchFamily="34" charset="-122"/>
                <a:cs typeface="Georgia" pitchFamily="34" charset="-120"/>
              </a:rPr>
              <a:t>Proyecto</a:t>
            </a:r>
            <a:endParaRPr lang="en-US" sz="4400" dirty="0"/>
          </a:p>
          <a:p>
            <a:pPr marL="0" indent="0">
              <a:lnSpc>
                <a:spcPct val="110000"/>
              </a:lnSpc>
              <a:buNone/>
            </a:pPr>
            <a:r>
              <a:rPr lang="en-US" sz="4400" b="1" dirty="0">
                <a:solidFill>
                  <a:srgbClr val="FFFFFF"/>
                </a:solidFill>
                <a:latin typeface="Georgia" pitchFamily="34" charset="0"/>
                <a:ea typeface="Georgia" pitchFamily="34" charset="-122"/>
                <a:cs typeface="Georgia" pitchFamily="34" charset="-120"/>
              </a:rPr>
              <a:t>Muebles Modernos</a:t>
            </a:r>
            <a:endParaRPr lang="en-US" sz="4400" dirty="0"/>
          </a:p>
        </p:txBody>
      </p:sp>
      <p:sp>
        <p:nvSpPr>
          <p:cNvPr id="7" name="Text 3"/>
          <p:cNvSpPr/>
          <p:nvPr/>
        </p:nvSpPr>
        <p:spPr>
          <a:xfrm>
            <a:off x="731520" y="2926080"/>
            <a:ext cx="5486400" cy="548640"/>
          </a:xfrm>
          <a:prstGeom prst="rect">
            <a:avLst/>
          </a:prstGeom>
          <a:noFill/>
          <a:ln/>
        </p:spPr>
        <p:txBody>
          <a:bodyPr wrap="square" lIns="0" tIns="0" rIns="0" bIns="0" rtlCol="0" anchor="ctr"/>
          <a:lstStyle/>
          <a:p>
            <a:pPr marL="0" indent="0">
              <a:buNone/>
            </a:pPr>
            <a:r>
              <a:rPr lang="en-US" sz="1800" i="1" dirty="0">
                <a:solidFill>
                  <a:srgbClr val="E7E8D1"/>
                </a:solidFill>
                <a:latin typeface="Calibri" pitchFamily="34" charset="0"/>
                <a:ea typeface="Calibri" pitchFamily="34" charset="-122"/>
                <a:cs typeface="Calibri" pitchFamily="34" charset="-120"/>
              </a:rPr>
              <a:t>Sistema web para tienda de muebles modernos</a:t>
            </a:r>
            <a:endParaRPr lang="en-US" sz="1800" dirty="0"/>
          </a:p>
        </p:txBody>
      </p:sp>
      <p:sp>
        <p:nvSpPr>
          <p:cNvPr id="8" name="Shape 4"/>
          <p:cNvSpPr/>
          <p:nvPr/>
        </p:nvSpPr>
        <p:spPr>
          <a:xfrm>
            <a:off x="731520" y="3657600"/>
            <a:ext cx="2286000" cy="36576"/>
          </a:xfrm>
          <a:prstGeom prst="rect">
            <a:avLst/>
          </a:prstGeom>
          <a:solidFill>
            <a:srgbClr val="B85042"/>
          </a:solidFill>
          <a:ln/>
        </p:spPr>
      </p:sp>
      <p:sp>
        <p:nvSpPr>
          <p:cNvPr id="9" name="Text 5"/>
          <p:cNvSpPr/>
          <p:nvPr/>
        </p:nvSpPr>
        <p:spPr>
          <a:xfrm>
            <a:off x="731520" y="3931920"/>
            <a:ext cx="5486400" cy="457200"/>
          </a:xfrm>
          <a:prstGeom prst="rect">
            <a:avLst/>
          </a:prstGeom>
          <a:noFill/>
          <a:ln/>
        </p:spPr>
        <p:txBody>
          <a:bodyPr wrap="square" lIns="0" tIns="0" rIns="0" bIns="0" rtlCol="0" anchor="ctr"/>
          <a:lstStyle/>
          <a:p>
            <a:pPr marL="0" indent="0">
              <a:buNone/>
            </a:pPr>
            <a:r>
              <a:rPr lang="en-US" sz="1200" dirty="0">
                <a:solidFill>
                  <a:srgbClr val="A7BEAE"/>
                </a:solidFill>
                <a:latin typeface="Calibri" pitchFamily="34" charset="0"/>
                <a:ea typeface="Calibri" pitchFamily="34" charset="-122"/>
                <a:cs typeface="Calibri" pitchFamily="34" charset="-120"/>
              </a:rPr>
              <a:t>React  |  Node.js  |  .NET 8  |  PostgreSQL  |  Docker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Caracteristicas Principales</a:t>
            </a:r>
            <a:endParaRPr lang="en-US" sz="2800" dirty="0"/>
          </a:p>
        </p:txBody>
      </p:sp>
      <p:sp>
        <p:nvSpPr>
          <p:cNvPr id="4" name="Shape 2"/>
          <p:cNvSpPr/>
          <p:nvPr/>
        </p:nvSpPr>
        <p:spPr>
          <a:xfrm>
            <a:off x="548640" y="1188720"/>
            <a:ext cx="3931920" cy="731520"/>
          </a:xfrm>
          <a:prstGeom prst="rect">
            <a:avLst/>
          </a:prstGeom>
          <a:solidFill>
            <a:srgbClr val="FFFFFF"/>
          </a:solidFill>
          <a:ln/>
          <a:effectLst>
            <a:outerShdw blurRad="76200" dist="25400" dir="8100000" algn="bl" rotWithShape="0">
              <a:srgbClr val="000000">
                <a:alpha val="12000"/>
              </a:srgbClr>
            </a:outerShdw>
          </a:effectLst>
        </p:spPr>
      </p:sp>
      <p:pic>
        <p:nvPicPr>
          <p:cNvPr id="5" name="Image 0" descr="preencoded.png"/>
          <p:cNvPicPr>
            <a:picLocks noChangeAspect="1"/>
          </p:cNvPicPr>
          <p:nvPr/>
        </p:nvPicPr>
        <p:blipFill>
          <a:blip r:embed="rId3"/>
          <a:stretch>
            <a:fillRect/>
          </a:stretch>
        </p:blipFill>
        <p:spPr>
          <a:xfrm>
            <a:off x="731520" y="1325880"/>
            <a:ext cx="411480" cy="411480"/>
          </a:xfrm>
          <a:prstGeom prst="rect">
            <a:avLst/>
          </a:prstGeom>
        </p:spPr>
      </p:pic>
      <p:sp>
        <p:nvSpPr>
          <p:cNvPr id="6" name="Text 3"/>
          <p:cNvSpPr/>
          <p:nvPr/>
        </p:nvSpPr>
        <p:spPr>
          <a:xfrm>
            <a:off x="1280160" y="1188720"/>
            <a:ext cx="3017520" cy="731520"/>
          </a:xfrm>
          <a:prstGeom prst="rect">
            <a:avLst/>
          </a:prstGeom>
          <a:noFill/>
          <a:ln/>
        </p:spPr>
        <p:txBody>
          <a:bodyPr wrap="square" lIns="0" tIns="0" rIns="0" bIns="0" rtlCol="0" anchor="ctr"/>
          <a:lstStyle/>
          <a:p>
            <a:pPr marL="0" indent="0">
              <a:buNone/>
            </a:pPr>
            <a:r>
              <a:rPr lang="en-US" sz="1300" dirty="0">
                <a:solidFill>
                  <a:srgbClr val="2D1B0E"/>
                </a:solidFill>
                <a:latin typeface="Calibri" pitchFamily="34" charset="0"/>
                <a:ea typeface="Calibri" pitchFamily="34" charset="-122"/>
                <a:cs typeface="Calibri" pitchFamily="34" charset="-120"/>
              </a:rPr>
              <a:t>Login, registro y recuperacion de contrasena</a:t>
            </a:r>
            <a:endParaRPr lang="en-US" sz="1300" dirty="0"/>
          </a:p>
        </p:txBody>
      </p:sp>
      <p:sp>
        <p:nvSpPr>
          <p:cNvPr id="7" name="Shape 4"/>
          <p:cNvSpPr/>
          <p:nvPr/>
        </p:nvSpPr>
        <p:spPr>
          <a:xfrm>
            <a:off x="4846320" y="1188720"/>
            <a:ext cx="3931920" cy="731520"/>
          </a:xfrm>
          <a:prstGeom prst="rect">
            <a:avLst/>
          </a:prstGeom>
          <a:solidFill>
            <a:srgbClr val="FFFFFF"/>
          </a:solidFill>
          <a:ln/>
          <a:effectLst>
            <a:outerShdw blurRad="76200" dist="25400" dir="8100000" algn="bl" rotWithShape="0">
              <a:srgbClr val="000000">
                <a:alpha val="12000"/>
              </a:srgbClr>
            </a:outerShdw>
          </a:effectLst>
        </p:spPr>
      </p:sp>
      <p:pic>
        <p:nvPicPr>
          <p:cNvPr id="8" name="Image 1" descr="preencoded.png"/>
          <p:cNvPicPr>
            <a:picLocks noChangeAspect="1"/>
          </p:cNvPicPr>
          <p:nvPr/>
        </p:nvPicPr>
        <p:blipFill>
          <a:blip r:embed="rId4"/>
          <a:stretch>
            <a:fillRect/>
          </a:stretch>
        </p:blipFill>
        <p:spPr>
          <a:xfrm>
            <a:off x="5029200" y="1325880"/>
            <a:ext cx="411480" cy="411480"/>
          </a:xfrm>
          <a:prstGeom prst="rect">
            <a:avLst/>
          </a:prstGeom>
        </p:spPr>
      </p:pic>
      <p:sp>
        <p:nvSpPr>
          <p:cNvPr id="9" name="Text 5"/>
          <p:cNvSpPr/>
          <p:nvPr/>
        </p:nvSpPr>
        <p:spPr>
          <a:xfrm>
            <a:off x="5577840" y="1188720"/>
            <a:ext cx="3017520" cy="731520"/>
          </a:xfrm>
          <a:prstGeom prst="rect">
            <a:avLst/>
          </a:prstGeom>
          <a:noFill/>
          <a:ln/>
        </p:spPr>
        <p:txBody>
          <a:bodyPr wrap="square" lIns="0" tIns="0" rIns="0" bIns="0" rtlCol="0" anchor="ctr"/>
          <a:lstStyle/>
          <a:p>
            <a:pPr marL="0" indent="0">
              <a:buNone/>
            </a:pPr>
            <a:r>
              <a:rPr lang="en-US" sz="1300" dirty="0">
                <a:solidFill>
                  <a:srgbClr val="2D1B0E"/>
                </a:solidFill>
                <a:latin typeface="Calibri" pitchFamily="34" charset="0"/>
                <a:ea typeface="Calibri" pitchFamily="34" charset="-122"/>
                <a:cs typeface="Calibri" pitchFamily="34" charset="-120"/>
              </a:rPr>
              <a:t>Catalogo de productos de muebles</a:t>
            </a:r>
            <a:endParaRPr lang="en-US" sz="1300" dirty="0"/>
          </a:p>
        </p:txBody>
      </p:sp>
      <p:sp>
        <p:nvSpPr>
          <p:cNvPr id="10" name="Shape 6"/>
          <p:cNvSpPr/>
          <p:nvPr/>
        </p:nvSpPr>
        <p:spPr>
          <a:xfrm>
            <a:off x="548640" y="2103120"/>
            <a:ext cx="3931920" cy="731520"/>
          </a:xfrm>
          <a:prstGeom prst="rect">
            <a:avLst/>
          </a:prstGeom>
          <a:solidFill>
            <a:srgbClr val="FFFFFF"/>
          </a:solidFill>
          <a:ln/>
          <a:effectLst>
            <a:outerShdw blurRad="76200" dist="25400" dir="8100000" algn="bl" rotWithShape="0">
              <a:srgbClr val="000000">
                <a:alpha val="12000"/>
              </a:srgbClr>
            </a:outerShdw>
          </a:effectLst>
        </p:spPr>
      </p:sp>
      <p:pic>
        <p:nvPicPr>
          <p:cNvPr id="11" name="Image 2" descr="preencoded.png"/>
          <p:cNvPicPr>
            <a:picLocks noChangeAspect="1"/>
          </p:cNvPicPr>
          <p:nvPr/>
        </p:nvPicPr>
        <p:blipFill>
          <a:blip r:embed="rId5"/>
          <a:stretch>
            <a:fillRect/>
          </a:stretch>
        </p:blipFill>
        <p:spPr>
          <a:xfrm>
            <a:off x="731520" y="2240280"/>
            <a:ext cx="411480" cy="411480"/>
          </a:xfrm>
          <a:prstGeom prst="rect">
            <a:avLst/>
          </a:prstGeom>
        </p:spPr>
      </p:pic>
      <p:sp>
        <p:nvSpPr>
          <p:cNvPr id="12" name="Text 7"/>
          <p:cNvSpPr/>
          <p:nvPr/>
        </p:nvSpPr>
        <p:spPr>
          <a:xfrm>
            <a:off x="1280160" y="2103120"/>
            <a:ext cx="3017520" cy="731520"/>
          </a:xfrm>
          <a:prstGeom prst="rect">
            <a:avLst/>
          </a:prstGeom>
          <a:noFill/>
          <a:ln/>
        </p:spPr>
        <p:txBody>
          <a:bodyPr wrap="square" lIns="0" tIns="0" rIns="0" bIns="0" rtlCol="0" anchor="ctr"/>
          <a:lstStyle/>
          <a:p>
            <a:pPr marL="0" indent="0">
              <a:buNone/>
            </a:pPr>
            <a:r>
              <a:rPr lang="en-US" sz="1300" dirty="0">
                <a:solidFill>
                  <a:srgbClr val="2D1B0E"/>
                </a:solidFill>
                <a:latin typeface="Calibri" pitchFamily="34" charset="0"/>
                <a:ea typeface="Calibri" pitchFamily="34" charset="-122"/>
                <a:cs typeface="Calibri" pitchFamily="34" charset="-120"/>
              </a:rPr>
              <a:t>Carrito de compras por cliente</a:t>
            </a:r>
            <a:endParaRPr lang="en-US" sz="1300" dirty="0"/>
          </a:p>
        </p:txBody>
      </p:sp>
      <p:sp>
        <p:nvSpPr>
          <p:cNvPr id="13" name="Shape 8"/>
          <p:cNvSpPr/>
          <p:nvPr/>
        </p:nvSpPr>
        <p:spPr>
          <a:xfrm>
            <a:off x="4846320" y="2103120"/>
            <a:ext cx="3931920" cy="731520"/>
          </a:xfrm>
          <a:prstGeom prst="rect">
            <a:avLst/>
          </a:prstGeom>
          <a:solidFill>
            <a:srgbClr val="FFFFFF"/>
          </a:solidFill>
          <a:ln/>
          <a:effectLst>
            <a:outerShdw blurRad="76200" dist="25400" dir="8100000" algn="bl" rotWithShape="0">
              <a:srgbClr val="000000">
                <a:alpha val="12000"/>
              </a:srgbClr>
            </a:outerShdw>
          </a:effectLst>
        </p:spPr>
      </p:sp>
      <p:pic>
        <p:nvPicPr>
          <p:cNvPr id="14" name="Image 3" descr="preencoded.png"/>
          <p:cNvPicPr>
            <a:picLocks noChangeAspect="1"/>
          </p:cNvPicPr>
          <p:nvPr/>
        </p:nvPicPr>
        <p:blipFill>
          <a:blip r:embed="rId6"/>
          <a:stretch>
            <a:fillRect/>
          </a:stretch>
        </p:blipFill>
        <p:spPr>
          <a:xfrm>
            <a:off x="5029200" y="2240280"/>
            <a:ext cx="411480" cy="411480"/>
          </a:xfrm>
          <a:prstGeom prst="rect">
            <a:avLst/>
          </a:prstGeom>
        </p:spPr>
      </p:pic>
      <p:sp>
        <p:nvSpPr>
          <p:cNvPr id="15" name="Text 9"/>
          <p:cNvSpPr/>
          <p:nvPr/>
        </p:nvSpPr>
        <p:spPr>
          <a:xfrm>
            <a:off x="5577840" y="2103120"/>
            <a:ext cx="3017520" cy="731520"/>
          </a:xfrm>
          <a:prstGeom prst="rect">
            <a:avLst/>
          </a:prstGeom>
          <a:noFill/>
          <a:ln/>
        </p:spPr>
        <p:txBody>
          <a:bodyPr wrap="square" lIns="0" tIns="0" rIns="0" bIns="0" rtlCol="0" anchor="ctr"/>
          <a:lstStyle/>
          <a:p>
            <a:pPr marL="0" indent="0">
              <a:buNone/>
            </a:pPr>
            <a:r>
              <a:rPr lang="en-US" sz="1300" dirty="0">
                <a:solidFill>
                  <a:srgbClr val="2D1B0E"/>
                </a:solidFill>
                <a:latin typeface="Calibri" pitchFamily="34" charset="0"/>
                <a:ea typeface="Calibri" pitchFamily="34" charset="-122"/>
                <a:cs typeface="Calibri" pitchFamily="34" charset="-120"/>
              </a:rPr>
              <a:t>Checkout con creacion de orden y autorizacion de pago</a:t>
            </a:r>
            <a:endParaRPr lang="en-US" sz="1300" dirty="0"/>
          </a:p>
        </p:txBody>
      </p:sp>
      <p:sp>
        <p:nvSpPr>
          <p:cNvPr id="16" name="Shape 10"/>
          <p:cNvSpPr/>
          <p:nvPr/>
        </p:nvSpPr>
        <p:spPr>
          <a:xfrm>
            <a:off x="548640" y="3017520"/>
            <a:ext cx="3931920" cy="731520"/>
          </a:xfrm>
          <a:prstGeom prst="rect">
            <a:avLst/>
          </a:prstGeom>
          <a:solidFill>
            <a:srgbClr val="FFFFFF"/>
          </a:solidFill>
          <a:ln/>
          <a:effectLst>
            <a:outerShdw blurRad="76200" dist="25400" dir="8100000" algn="bl" rotWithShape="0">
              <a:srgbClr val="000000">
                <a:alpha val="12000"/>
              </a:srgbClr>
            </a:outerShdw>
          </a:effectLst>
        </p:spPr>
      </p:sp>
      <p:pic>
        <p:nvPicPr>
          <p:cNvPr id="17" name="Image 4" descr="preencoded.png"/>
          <p:cNvPicPr>
            <a:picLocks noChangeAspect="1"/>
          </p:cNvPicPr>
          <p:nvPr/>
        </p:nvPicPr>
        <p:blipFill>
          <a:blip r:embed="rId7"/>
          <a:stretch>
            <a:fillRect/>
          </a:stretch>
        </p:blipFill>
        <p:spPr>
          <a:xfrm>
            <a:off x="731520" y="3154680"/>
            <a:ext cx="411480" cy="411480"/>
          </a:xfrm>
          <a:prstGeom prst="rect">
            <a:avLst/>
          </a:prstGeom>
        </p:spPr>
      </p:pic>
      <p:sp>
        <p:nvSpPr>
          <p:cNvPr id="18" name="Text 11"/>
          <p:cNvSpPr/>
          <p:nvPr/>
        </p:nvSpPr>
        <p:spPr>
          <a:xfrm>
            <a:off x="1280160" y="3017520"/>
            <a:ext cx="3017520" cy="731520"/>
          </a:xfrm>
          <a:prstGeom prst="rect">
            <a:avLst/>
          </a:prstGeom>
          <a:noFill/>
          <a:ln/>
        </p:spPr>
        <p:txBody>
          <a:bodyPr wrap="square" lIns="0" tIns="0" rIns="0" bIns="0" rtlCol="0" anchor="ctr"/>
          <a:lstStyle/>
          <a:p>
            <a:pPr marL="0" indent="0">
              <a:buNone/>
            </a:pPr>
            <a:r>
              <a:rPr lang="en-US" sz="1300" dirty="0">
                <a:solidFill>
                  <a:srgbClr val="2D1B0E"/>
                </a:solidFill>
                <a:latin typeface="Calibri" pitchFamily="34" charset="0"/>
                <a:ea typeface="Calibri" pitchFamily="34" charset="-122"/>
                <a:cs typeface="Calibri" pitchFamily="34" charset="-120"/>
              </a:rPr>
              <a:t>Interfaz web para clientes y administradores</a:t>
            </a:r>
            <a:endParaRPr lang="en-US" sz="1300" dirty="0"/>
          </a:p>
        </p:txBody>
      </p:sp>
      <p:sp>
        <p:nvSpPr>
          <p:cNvPr id="19" name="Shape 12"/>
          <p:cNvSpPr/>
          <p:nvPr/>
        </p:nvSpPr>
        <p:spPr>
          <a:xfrm>
            <a:off x="4846320" y="3017520"/>
            <a:ext cx="3931920" cy="731520"/>
          </a:xfrm>
          <a:prstGeom prst="rect">
            <a:avLst/>
          </a:prstGeom>
          <a:solidFill>
            <a:srgbClr val="FFFFFF"/>
          </a:solidFill>
          <a:ln/>
          <a:effectLst>
            <a:outerShdw blurRad="76200" dist="25400" dir="8100000" algn="bl" rotWithShape="0">
              <a:srgbClr val="000000">
                <a:alpha val="12000"/>
              </a:srgbClr>
            </a:outerShdw>
          </a:effectLst>
        </p:spPr>
      </p:sp>
      <p:pic>
        <p:nvPicPr>
          <p:cNvPr id="20" name="Image 5" descr="preencoded.png"/>
          <p:cNvPicPr>
            <a:picLocks noChangeAspect="1"/>
          </p:cNvPicPr>
          <p:nvPr/>
        </p:nvPicPr>
        <p:blipFill>
          <a:blip r:embed="rId8"/>
          <a:stretch>
            <a:fillRect/>
          </a:stretch>
        </p:blipFill>
        <p:spPr>
          <a:xfrm>
            <a:off x="5029200" y="3154680"/>
            <a:ext cx="411480" cy="411480"/>
          </a:xfrm>
          <a:prstGeom prst="rect">
            <a:avLst/>
          </a:prstGeom>
        </p:spPr>
      </p:pic>
      <p:sp>
        <p:nvSpPr>
          <p:cNvPr id="21" name="Text 13"/>
          <p:cNvSpPr/>
          <p:nvPr/>
        </p:nvSpPr>
        <p:spPr>
          <a:xfrm>
            <a:off x="5577840" y="3017520"/>
            <a:ext cx="3017520" cy="731520"/>
          </a:xfrm>
          <a:prstGeom prst="rect">
            <a:avLst/>
          </a:prstGeom>
          <a:noFill/>
          <a:ln/>
        </p:spPr>
        <p:txBody>
          <a:bodyPr wrap="square" lIns="0" tIns="0" rIns="0" bIns="0" rtlCol="0" anchor="ctr"/>
          <a:lstStyle/>
          <a:p>
            <a:pPr marL="0" indent="0">
              <a:buNone/>
            </a:pPr>
            <a:r>
              <a:rPr lang="en-US" sz="1300" dirty="0">
                <a:solidFill>
                  <a:srgbClr val="2D1B0E"/>
                </a:solidFill>
                <a:latin typeface="Calibri" pitchFamily="34" charset="0"/>
                <a:ea typeface="Calibri" pitchFamily="34" charset="-122"/>
                <a:cs typeface="Calibri" pitchFamily="34" charset="-120"/>
              </a:rPr>
              <a:t>API Gateway centraliza comunicacion</a:t>
            </a:r>
            <a:endParaRPr lang="en-US" sz="1300" dirty="0"/>
          </a:p>
        </p:txBody>
      </p:sp>
      <p:sp>
        <p:nvSpPr>
          <p:cNvPr id="22" name="Shape 14"/>
          <p:cNvSpPr/>
          <p:nvPr/>
        </p:nvSpPr>
        <p:spPr>
          <a:xfrm>
            <a:off x="548640" y="3931920"/>
            <a:ext cx="3931920" cy="731520"/>
          </a:xfrm>
          <a:prstGeom prst="rect">
            <a:avLst/>
          </a:prstGeom>
          <a:solidFill>
            <a:srgbClr val="FFFFFF"/>
          </a:solidFill>
          <a:ln/>
          <a:effectLst>
            <a:outerShdw blurRad="76200" dist="25400" dir="8100000" algn="bl" rotWithShape="0">
              <a:srgbClr val="000000">
                <a:alpha val="12000"/>
              </a:srgbClr>
            </a:outerShdw>
          </a:effectLst>
        </p:spPr>
      </p:sp>
      <p:pic>
        <p:nvPicPr>
          <p:cNvPr id="23" name="Image 6" descr="preencoded.png"/>
          <p:cNvPicPr>
            <a:picLocks noChangeAspect="1"/>
          </p:cNvPicPr>
          <p:nvPr/>
        </p:nvPicPr>
        <p:blipFill>
          <a:blip r:embed="rId9"/>
          <a:stretch>
            <a:fillRect/>
          </a:stretch>
        </p:blipFill>
        <p:spPr>
          <a:xfrm>
            <a:off x="731520" y="4069080"/>
            <a:ext cx="411480" cy="411480"/>
          </a:xfrm>
          <a:prstGeom prst="rect">
            <a:avLst/>
          </a:prstGeom>
        </p:spPr>
      </p:pic>
      <p:sp>
        <p:nvSpPr>
          <p:cNvPr id="24" name="Text 15"/>
          <p:cNvSpPr/>
          <p:nvPr/>
        </p:nvSpPr>
        <p:spPr>
          <a:xfrm>
            <a:off x="1280160" y="3931920"/>
            <a:ext cx="3017520" cy="731520"/>
          </a:xfrm>
          <a:prstGeom prst="rect">
            <a:avLst/>
          </a:prstGeom>
          <a:noFill/>
          <a:ln/>
        </p:spPr>
        <p:txBody>
          <a:bodyPr wrap="square" lIns="0" tIns="0" rIns="0" bIns="0" rtlCol="0" anchor="ctr"/>
          <a:lstStyle/>
          <a:p>
            <a:pPr marL="0" indent="0">
              <a:buNone/>
            </a:pPr>
            <a:r>
              <a:rPr lang="en-US" sz="1300" dirty="0">
                <a:solidFill>
                  <a:srgbClr val="2D1B0E"/>
                </a:solidFill>
                <a:latin typeface="Calibri" pitchFamily="34" charset="0"/>
                <a:ea typeface="Calibri" pitchFamily="34" charset="-122"/>
                <a:cs typeface="Calibri" pitchFamily="34" charset="-120"/>
              </a:rPr>
              <a:t>Microservicios .NET separados por responsabilidad</a:t>
            </a:r>
            <a:endParaRPr lang="en-US" sz="1300" dirty="0"/>
          </a:p>
        </p:txBody>
      </p:sp>
      <p:sp>
        <p:nvSpPr>
          <p:cNvPr id="25" name="Shape 16"/>
          <p:cNvSpPr/>
          <p:nvPr/>
        </p:nvSpPr>
        <p:spPr>
          <a:xfrm>
            <a:off x="4846320" y="3931920"/>
            <a:ext cx="3931920" cy="731520"/>
          </a:xfrm>
          <a:prstGeom prst="rect">
            <a:avLst/>
          </a:prstGeom>
          <a:solidFill>
            <a:srgbClr val="FFFFFF"/>
          </a:solidFill>
          <a:ln/>
          <a:effectLst>
            <a:outerShdw blurRad="76200" dist="25400" dir="8100000" algn="bl" rotWithShape="0">
              <a:srgbClr val="000000">
                <a:alpha val="12000"/>
              </a:srgbClr>
            </a:outerShdw>
          </a:effectLst>
        </p:spPr>
      </p:sp>
      <p:pic>
        <p:nvPicPr>
          <p:cNvPr id="26" name="Image 7" descr="preencoded.png"/>
          <p:cNvPicPr>
            <a:picLocks noChangeAspect="1"/>
          </p:cNvPicPr>
          <p:nvPr/>
        </p:nvPicPr>
        <p:blipFill>
          <a:blip r:embed="rId10"/>
          <a:stretch>
            <a:fillRect/>
          </a:stretch>
        </p:blipFill>
        <p:spPr>
          <a:xfrm>
            <a:off x="5029200" y="4069080"/>
            <a:ext cx="411480" cy="411480"/>
          </a:xfrm>
          <a:prstGeom prst="rect">
            <a:avLst/>
          </a:prstGeom>
        </p:spPr>
      </p:pic>
      <p:sp>
        <p:nvSpPr>
          <p:cNvPr id="27" name="Text 17"/>
          <p:cNvSpPr/>
          <p:nvPr/>
        </p:nvSpPr>
        <p:spPr>
          <a:xfrm>
            <a:off x="5577840" y="3931920"/>
            <a:ext cx="3017520" cy="731520"/>
          </a:xfrm>
          <a:prstGeom prst="rect">
            <a:avLst/>
          </a:prstGeom>
          <a:noFill/>
          <a:ln/>
        </p:spPr>
        <p:txBody>
          <a:bodyPr wrap="square" lIns="0" tIns="0" rIns="0" bIns="0" rtlCol="0" anchor="ctr"/>
          <a:lstStyle/>
          <a:p>
            <a:pPr marL="0" indent="0">
              <a:buNone/>
            </a:pPr>
            <a:r>
              <a:rPr lang="en-US" sz="1300" dirty="0">
                <a:solidFill>
                  <a:srgbClr val="2D1B0E"/>
                </a:solidFill>
                <a:latin typeface="Calibri" pitchFamily="34" charset="0"/>
                <a:ea typeface="Calibri" pitchFamily="34" charset="-122"/>
                <a:cs typeface="Calibri" pitchFamily="34" charset="-120"/>
              </a:rPr>
              <a:t>Pruebas unitarias, integrales y E2E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Arquitectura del Sistema</a:t>
            </a:r>
            <a:endParaRPr lang="en-US" sz="2800" dirty="0"/>
          </a:p>
        </p:txBody>
      </p:sp>
      <p:sp>
        <p:nvSpPr>
          <p:cNvPr id="4" name="Shape 2"/>
          <p:cNvSpPr/>
          <p:nvPr/>
        </p:nvSpPr>
        <p:spPr>
          <a:xfrm>
            <a:off x="457200" y="1645920"/>
            <a:ext cx="1828800" cy="2011680"/>
          </a:xfrm>
          <a:prstGeom prst="rect">
            <a:avLst/>
          </a:prstGeom>
          <a:solidFill>
            <a:srgbClr val="B85042"/>
          </a:solidFill>
          <a:ln/>
          <a:effectLst>
            <a:outerShdw blurRad="76200" dist="25400" dir="8100000" algn="bl" rotWithShape="0">
              <a:srgbClr val="000000">
                <a:alpha val="12000"/>
              </a:srgbClr>
            </a:outerShdw>
          </a:effectLst>
        </p:spPr>
      </p:sp>
      <p:pic>
        <p:nvPicPr>
          <p:cNvPr id="5" name="Image 0" descr="preencoded.png"/>
          <p:cNvPicPr>
            <a:picLocks noChangeAspect="1"/>
          </p:cNvPicPr>
          <p:nvPr/>
        </p:nvPicPr>
        <p:blipFill>
          <a:blip r:embed="rId3"/>
          <a:stretch>
            <a:fillRect/>
          </a:stretch>
        </p:blipFill>
        <p:spPr>
          <a:xfrm>
            <a:off x="1051560" y="1920240"/>
            <a:ext cx="640080" cy="640080"/>
          </a:xfrm>
          <a:prstGeom prst="rect">
            <a:avLst/>
          </a:prstGeom>
        </p:spPr>
      </p:pic>
      <p:sp>
        <p:nvSpPr>
          <p:cNvPr id="6" name="Text 3"/>
          <p:cNvSpPr/>
          <p:nvPr/>
        </p:nvSpPr>
        <p:spPr>
          <a:xfrm>
            <a:off x="457200" y="2651760"/>
            <a:ext cx="182880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Frontend</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React</a:t>
            </a:r>
            <a:endParaRPr lang="en-US" sz="1300" dirty="0"/>
          </a:p>
        </p:txBody>
      </p:sp>
      <p:sp>
        <p:nvSpPr>
          <p:cNvPr id="7" name="Text 4"/>
          <p:cNvSpPr/>
          <p:nvPr/>
        </p:nvSpPr>
        <p:spPr>
          <a:xfrm>
            <a:off x="457200" y="3246120"/>
            <a:ext cx="1828800" cy="320040"/>
          </a:xfrm>
          <a:prstGeom prst="rect">
            <a:avLst/>
          </a:prstGeom>
          <a:noFill/>
          <a:ln/>
        </p:spPr>
        <p:txBody>
          <a:bodyPr wrap="square" lIns="0" tIns="0" rIns="0" bIns="0" rtlCol="0" anchor="ctr"/>
          <a:lstStyle/>
          <a:p>
            <a:pPr marL="0" indent="0" algn="ctr">
              <a:buNone/>
            </a:pPr>
            <a:r>
              <a:rPr lang="en-US" sz="1000" dirty="0">
                <a:solidFill>
                  <a:srgbClr val="E7E8D1"/>
                </a:solidFill>
                <a:latin typeface="Calibri" pitchFamily="34" charset="0"/>
                <a:ea typeface="Calibri" pitchFamily="34" charset="-122"/>
                <a:cs typeface="Calibri" pitchFamily="34" charset="-120"/>
              </a:rPr>
              <a:t>localhost:5173</a:t>
            </a:r>
            <a:endParaRPr lang="en-US" sz="1000" dirty="0"/>
          </a:p>
        </p:txBody>
      </p:sp>
      <p:pic>
        <p:nvPicPr>
          <p:cNvPr id="8" name="Image 1" descr="preencoded.png"/>
          <p:cNvPicPr>
            <a:picLocks noChangeAspect="1"/>
          </p:cNvPicPr>
          <p:nvPr/>
        </p:nvPicPr>
        <p:blipFill>
          <a:blip r:embed="rId4"/>
          <a:stretch>
            <a:fillRect/>
          </a:stretch>
        </p:blipFill>
        <p:spPr>
          <a:xfrm>
            <a:off x="2331720" y="2423160"/>
            <a:ext cx="320040" cy="320040"/>
          </a:xfrm>
          <a:prstGeom prst="rect">
            <a:avLst/>
          </a:prstGeom>
        </p:spPr>
      </p:pic>
      <p:sp>
        <p:nvSpPr>
          <p:cNvPr id="9" name="Shape 5"/>
          <p:cNvSpPr/>
          <p:nvPr/>
        </p:nvSpPr>
        <p:spPr>
          <a:xfrm>
            <a:off x="2697480" y="1645920"/>
            <a:ext cx="1828800" cy="2011680"/>
          </a:xfrm>
          <a:prstGeom prst="rect">
            <a:avLst/>
          </a:prstGeom>
          <a:solidFill>
            <a:srgbClr val="5D4037"/>
          </a:solidFill>
          <a:ln/>
          <a:effectLst>
            <a:outerShdw blurRad="76200" dist="25400" dir="8100000" algn="bl" rotWithShape="0">
              <a:srgbClr val="000000">
                <a:alpha val="12000"/>
              </a:srgbClr>
            </a:outerShdw>
          </a:effectLst>
        </p:spPr>
      </p:sp>
      <p:pic>
        <p:nvPicPr>
          <p:cNvPr id="10" name="Image 2" descr="preencoded.png"/>
          <p:cNvPicPr>
            <a:picLocks noChangeAspect="1"/>
          </p:cNvPicPr>
          <p:nvPr/>
        </p:nvPicPr>
        <p:blipFill>
          <a:blip r:embed="rId5"/>
          <a:stretch>
            <a:fillRect/>
          </a:stretch>
        </p:blipFill>
        <p:spPr>
          <a:xfrm>
            <a:off x="3291840" y="1920240"/>
            <a:ext cx="640080" cy="640080"/>
          </a:xfrm>
          <a:prstGeom prst="rect">
            <a:avLst/>
          </a:prstGeom>
        </p:spPr>
      </p:pic>
      <p:sp>
        <p:nvSpPr>
          <p:cNvPr id="11" name="Text 6"/>
          <p:cNvSpPr/>
          <p:nvPr/>
        </p:nvSpPr>
        <p:spPr>
          <a:xfrm>
            <a:off x="2697480" y="2651760"/>
            <a:ext cx="182880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API Gateway</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Node.js</a:t>
            </a:r>
            <a:endParaRPr lang="en-US" sz="1300" dirty="0"/>
          </a:p>
        </p:txBody>
      </p:sp>
      <p:sp>
        <p:nvSpPr>
          <p:cNvPr id="12" name="Text 7"/>
          <p:cNvSpPr/>
          <p:nvPr/>
        </p:nvSpPr>
        <p:spPr>
          <a:xfrm>
            <a:off x="2697480" y="3246120"/>
            <a:ext cx="1828800" cy="320040"/>
          </a:xfrm>
          <a:prstGeom prst="rect">
            <a:avLst/>
          </a:prstGeom>
          <a:noFill/>
          <a:ln/>
        </p:spPr>
        <p:txBody>
          <a:bodyPr wrap="square" lIns="0" tIns="0" rIns="0" bIns="0" rtlCol="0" anchor="ctr"/>
          <a:lstStyle/>
          <a:p>
            <a:pPr marL="0" indent="0" algn="ctr">
              <a:buNone/>
            </a:pPr>
            <a:r>
              <a:rPr lang="en-US" sz="1000" dirty="0">
                <a:solidFill>
                  <a:srgbClr val="E7E8D1"/>
                </a:solidFill>
                <a:latin typeface="Calibri" pitchFamily="34" charset="0"/>
                <a:ea typeface="Calibri" pitchFamily="34" charset="-122"/>
                <a:cs typeface="Calibri" pitchFamily="34" charset="-120"/>
              </a:rPr>
              <a:t>localhost:9090</a:t>
            </a:r>
            <a:endParaRPr lang="en-US" sz="1000" dirty="0"/>
          </a:p>
        </p:txBody>
      </p:sp>
      <p:pic>
        <p:nvPicPr>
          <p:cNvPr id="13" name="Image 3" descr="preencoded.png"/>
          <p:cNvPicPr>
            <a:picLocks noChangeAspect="1"/>
          </p:cNvPicPr>
          <p:nvPr/>
        </p:nvPicPr>
        <p:blipFill>
          <a:blip r:embed="rId4"/>
          <a:stretch>
            <a:fillRect/>
          </a:stretch>
        </p:blipFill>
        <p:spPr>
          <a:xfrm>
            <a:off x="4572000" y="2423160"/>
            <a:ext cx="320040" cy="320040"/>
          </a:xfrm>
          <a:prstGeom prst="rect">
            <a:avLst/>
          </a:prstGeom>
        </p:spPr>
      </p:pic>
      <p:sp>
        <p:nvSpPr>
          <p:cNvPr id="14" name="Shape 8"/>
          <p:cNvSpPr/>
          <p:nvPr/>
        </p:nvSpPr>
        <p:spPr>
          <a:xfrm>
            <a:off x="4937760" y="1645920"/>
            <a:ext cx="1828800" cy="2011680"/>
          </a:xfrm>
          <a:prstGeom prst="rect">
            <a:avLst/>
          </a:prstGeom>
          <a:solidFill>
            <a:srgbClr val="37474F"/>
          </a:solidFill>
          <a:ln/>
          <a:effectLst>
            <a:outerShdw blurRad="76200" dist="25400" dir="8100000" algn="bl" rotWithShape="0">
              <a:srgbClr val="000000">
                <a:alpha val="12000"/>
              </a:srgbClr>
            </a:outerShdw>
          </a:effectLst>
        </p:spPr>
      </p:sp>
      <p:pic>
        <p:nvPicPr>
          <p:cNvPr id="15" name="Image 4" descr="preencoded.png"/>
          <p:cNvPicPr>
            <a:picLocks noChangeAspect="1"/>
          </p:cNvPicPr>
          <p:nvPr/>
        </p:nvPicPr>
        <p:blipFill>
          <a:blip r:embed="rId6"/>
          <a:stretch>
            <a:fillRect/>
          </a:stretch>
        </p:blipFill>
        <p:spPr>
          <a:xfrm>
            <a:off x="5532120" y="1920240"/>
            <a:ext cx="640080" cy="640080"/>
          </a:xfrm>
          <a:prstGeom prst="rect">
            <a:avLst/>
          </a:prstGeom>
        </p:spPr>
      </p:pic>
      <p:sp>
        <p:nvSpPr>
          <p:cNvPr id="16" name="Text 9"/>
          <p:cNvSpPr/>
          <p:nvPr/>
        </p:nvSpPr>
        <p:spPr>
          <a:xfrm>
            <a:off x="4937760" y="2651760"/>
            <a:ext cx="182880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Microservicios</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.NET 8</a:t>
            </a:r>
            <a:endParaRPr lang="en-US" sz="1300" dirty="0"/>
          </a:p>
        </p:txBody>
      </p:sp>
      <p:sp>
        <p:nvSpPr>
          <p:cNvPr id="17" name="Text 10"/>
          <p:cNvSpPr/>
          <p:nvPr/>
        </p:nvSpPr>
        <p:spPr>
          <a:xfrm>
            <a:off x="4937760" y="3246120"/>
            <a:ext cx="1828800" cy="320040"/>
          </a:xfrm>
          <a:prstGeom prst="rect">
            <a:avLst/>
          </a:prstGeom>
          <a:noFill/>
          <a:ln/>
        </p:spPr>
        <p:txBody>
          <a:bodyPr wrap="square" lIns="0" tIns="0" rIns="0" bIns="0" rtlCol="0" anchor="ctr"/>
          <a:lstStyle/>
          <a:p>
            <a:pPr marL="0" indent="0" algn="ctr">
              <a:buNone/>
            </a:pPr>
            <a:r>
              <a:rPr lang="en-US" sz="1000" dirty="0">
                <a:solidFill>
                  <a:srgbClr val="E7E8D1"/>
                </a:solidFill>
                <a:latin typeface="Calibri" pitchFamily="34" charset="0"/>
                <a:ea typeface="Calibri" pitchFamily="34" charset="-122"/>
                <a:cs typeface="Calibri" pitchFamily="34" charset="-120"/>
              </a:rPr>
              <a:t>puertos 8081-8086</a:t>
            </a:r>
            <a:endParaRPr lang="en-US" sz="1000" dirty="0"/>
          </a:p>
        </p:txBody>
      </p:sp>
      <p:pic>
        <p:nvPicPr>
          <p:cNvPr id="18" name="Image 5" descr="preencoded.png"/>
          <p:cNvPicPr>
            <a:picLocks noChangeAspect="1"/>
          </p:cNvPicPr>
          <p:nvPr/>
        </p:nvPicPr>
        <p:blipFill>
          <a:blip r:embed="rId4"/>
          <a:stretch>
            <a:fillRect/>
          </a:stretch>
        </p:blipFill>
        <p:spPr>
          <a:xfrm>
            <a:off x="6812280" y="2423160"/>
            <a:ext cx="320040" cy="320040"/>
          </a:xfrm>
          <a:prstGeom prst="rect">
            <a:avLst/>
          </a:prstGeom>
        </p:spPr>
      </p:pic>
      <p:sp>
        <p:nvSpPr>
          <p:cNvPr id="19" name="Shape 11"/>
          <p:cNvSpPr/>
          <p:nvPr/>
        </p:nvSpPr>
        <p:spPr>
          <a:xfrm>
            <a:off x="7178040" y="1645920"/>
            <a:ext cx="1828800" cy="2011680"/>
          </a:xfrm>
          <a:prstGeom prst="rect">
            <a:avLst/>
          </a:prstGeom>
          <a:solidFill>
            <a:srgbClr val="1565C0"/>
          </a:solidFill>
          <a:ln/>
          <a:effectLst>
            <a:outerShdw blurRad="76200" dist="25400" dir="8100000" algn="bl" rotWithShape="0">
              <a:srgbClr val="000000">
                <a:alpha val="12000"/>
              </a:srgbClr>
            </a:outerShdw>
          </a:effectLst>
        </p:spPr>
      </p:sp>
      <p:pic>
        <p:nvPicPr>
          <p:cNvPr id="20" name="Image 6" descr="preencoded.png"/>
          <p:cNvPicPr>
            <a:picLocks noChangeAspect="1"/>
          </p:cNvPicPr>
          <p:nvPr/>
        </p:nvPicPr>
        <p:blipFill>
          <a:blip r:embed="rId7"/>
          <a:stretch>
            <a:fillRect/>
          </a:stretch>
        </p:blipFill>
        <p:spPr>
          <a:xfrm>
            <a:off x="7772400" y="1920240"/>
            <a:ext cx="640080" cy="640080"/>
          </a:xfrm>
          <a:prstGeom prst="rect">
            <a:avLst/>
          </a:prstGeom>
        </p:spPr>
      </p:pic>
      <p:sp>
        <p:nvSpPr>
          <p:cNvPr id="21" name="Text 12"/>
          <p:cNvSpPr/>
          <p:nvPr/>
        </p:nvSpPr>
        <p:spPr>
          <a:xfrm>
            <a:off x="7178040" y="2651760"/>
            <a:ext cx="182880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PostgreSQL</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Docker</a:t>
            </a:r>
            <a:endParaRPr lang="en-US" sz="1300" dirty="0"/>
          </a:p>
        </p:txBody>
      </p:sp>
      <p:sp>
        <p:nvSpPr>
          <p:cNvPr id="22" name="Text 13"/>
          <p:cNvSpPr/>
          <p:nvPr/>
        </p:nvSpPr>
        <p:spPr>
          <a:xfrm>
            <a:off x="7178040" y="3246120"/>
            <a:ext cx="1828800" cy="320040"/>
          </a:xfrm>
          <a:prstGeom prst="rect">
            <a:avLst/>
          </a:prstGeom>
          <a:noFill/>
          <a:ln/>
        </p:spPr>
        <p:txBody>
          <a:bodyPr wrap="square" lIns="0" tIns="0" rIns="0" bIns="0" rtlCol="0" anchor="ctr"/>
          <a:lstStyle/>
          <a:p>
            <a:pPr marL="0" indent="0" algn="ctr">
              <a:buNone/>
            </a:pPr>
            <a:r>
              <a:rPr lang="en-US" sz="1000" dirty="0">
                <a:solidFill>
                  <a:srgbClr val="E7E8D1"/>
                </a:solidFill>
                <a:latin typeface="Calibri" pitchFamily="34" charset="0"/>
                <a:ea typeface="Calibri" pitchFamily="34" charset="-122"/>
                <a:cs typeface="Calibri" pitchFamily="34" charset="-120"/>
              </a:rPr>
              <a:t>puerto 5432</a:t>
            </a:r>
            <a:endParaRPr lang="en-US" sz="1000" dirty="0"/>
          </a:p>
        </p:txBody>
      </p:sp>
      <p:sp>
        <p:nvSpPr>
          <p:cNvPr id="23" name="Text 14"/>
          <p:cNvSpPr/>
          <p:nvPr/>
        </p:nvSpPr>
        <p:spPr>
          <a:xfrm>
            <a:off x="731520" y="4114800"/>
            <a:ext cx="7680960" cy="457200"/>
          </a:xfrm>
          <a:prstGeom prst="rect">
            <a:avLst/>
          </a:prstGeom>
          <a:noFill/>
          <a:ln/>
        </p:spPr>
        <p:txBody>
          <a:bodyPr wrap="square" lIns="0" tIns="0" rIns="0" bIns="0" rtlCol="0" anchor="ctr"/>
          <a:lstStyle/>
          <a:p>
            <a:pPr marL="0" indent="0" algn="ctr">
              <a:buNone/>
            </a:pPr>
            <a:r>
              <a:rPr lang="en-US" sz="1200" i="1" dirty="0">
                <a:solidFill>
                  <a:srgbClr val="6B5B4F"/>
                </a:solidFill>
                <a:latin typeface="Calibri" pitchFamily="34" charset="0"/>
                <a:ea typeface="Calibri" pitchFamily="34" charset="-122"/>
                <a:cs typeface="Calibri" pitchFamily="34" charset="-120"/>
              </a:rPr>
              <a:t>El frontend no llama directamente a los microservicios. Todo el trafico pasa por el API Gateway.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Tecnologias Utilizadas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Capa</a:t>
                      </a:r>
                      <a:endParaRPr lang="en-US" sz="12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2D1B0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Tecnologia</a:t>
                      </a:r>
                      <a:endParaRPr lang="en-US" sz="12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2D1B0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Uso</a:t>
                      </a:r>
                      <a:endParaRPr lang="en-US" sz="12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2D1B0E"/>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Frontend</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2D1B0E"/>
                          </a:solidFill>
                          <a:latin typeface="Calibri" pitchFamily="34" charset="0"/>
                          <a:ea typeface="Calibri" pitchFamily="34" charset="-122"/>
                          <a:cs typeface="Calibri" pitchFamily="34" charset="-120"/>
                        </a:rPr>
                        <a:t>React 18 + Vite + TypeScript</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Interfaz por componentes</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Frontend</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2D1B0E"/>
                          </a:solidFill>
                          <a:latin typeface="Calibri" pitchFamily="34" charset="0"/>
                          <a:ea typeface="Calibri" pitchFamily="34" charset="-122"/>
                          <a:cs typeface="Calibri" pitchFamily="34" charset="-120"/>
                        </a:rPr>
                        <a:t>Tailwind CSS</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Estilos de la aplicacion</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Pruebas Front</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2D1B0E"/>
                          </a:solidFill>
                          <a:latin typeface="Calibri" pitchFamily="34" charset="0"/>
                          <a:ea typeface="Calibri" pitchFamily="34" charset="-122"/>
                          <a:cs typeface="Calibri" pitchFamily="34" charset="-120"/>
                        </a:rPr>
                        <a:t>Vitest + Testing Library</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Pruebas UI, formularios y E2E</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Gateway</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2D1B0E"/>
                          </a:solidFill>
                          <a:latin typeface="Calibri" pitchFamily="34" charset="0"/>
                          <a:ea typeface="Calibri" pitchFamily="34" charset="-122"/>
                          <a:cs typeface="Calibri" pitchFamily="34" charset="-120"/>
                        </a:rPr>
                        <a:t>Node.js + Express</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Proxy/BFF entre frontend y servicios</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Backend</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2D1B0E"/>
                          </a:solidFill>
                          <a:latin typeface="Calibri" pitchFamily="34" charset="0"/>
                          <a:ea typeface="Calibri" pitchFamily="34" charset="-122"/>
                          <a:cs typeface="Calibri" pitchFamily="34" charset="-120"/>
                        </a:rPr>
                        <a:t>.NET 8 + Minimal APIs</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APIs de negocio</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Pruebas Back</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2D1B0E"/>
                          </a:solidFill>
                          <a:latin typeface="Calibri" pitchFamily="34" charset="0"/>
                          <a:ea typeface="Calibri" pitchFamily="34" charset="-122"/>
                          <a:cs typeface="Calibri" pitchFamily="34" charset="-120"/>
                        </a:rPr>
                        <a:t>xUnit + coverlet</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Pruebas unitarias, integrales y cobertura</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Base de Datos</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2D1B0E"/>
                          </a:solidFill>
                          <a:latin typeface="Calibri" pitchFamily="34" charset="0"/>
                          <a:ea typeface="Calibri" pitchFamily="34" charset="-122"/>
                          <a:cs typeface="Calibri" pitchFamily="34" charset="-120"/>
                        </a:rPr>
                        <a:t>PostgreSQL</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Persistencia principal en Docker</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Infraestructura</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2D1B0E"/>
                          </a:solidFill>
                          <a:latin typeface="Calibri" pitchFamily="34" charset="0"/>
                          <a:ea typeface="Calibri" pitchFamily="34" charset="-122"/>
                          <a:cs typeface="Calibri" pitchFamily="34" charset="-120"/>
                        </a:rPr>
                        <a:t>Docker Compose</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Orquestacion de servicios</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Organizacion por Modulos de Negocio</a:t>
            </a:r>
            <a:endParaRPr lang="en-US" sz="2800" dirty="0"/>
          </a:p>
        </p:txBody>
      </p:sp>
      <p:sp>
        <p:nvSpPr>
          <p:cNvPr id="4" name="Shape 2"/>
          <p:cNvSpPr/>
          <p:nvPr/>
        </p:nvSpPr>
        <p:spPr>
          <a:xfrm>
            <a:off x="320040" y="1280160"/>
            <a:ext cx="1554480" cy="2926080"/>
          </a:xfrm>
          <a:prstGeom prst="rect">
            <a:avLst/>
          </a:prstGeom>
          <a:solidFill>
            <a:srgbClr val="FFFFFF"/>
          </a:solidFill>
          <a:ln/>
          <a:effectLst>
            <a:outerShdw blurRad="76200" dist="25400" dir="8100000" algn="bl" rotWithShape="0">
              <a:srgbClr val="000000">
                <a:alpha val="12000"/>
              </a:srgbClr>
            </a:outerShdw>
          </a:effectLst>
        </p:spPr>
      </p:sp>
      <p:sp>
        <p:nvSpPr>
          <p:cNvPr id="5" name="Shape 3"/>
          <p:cNvSpPr/>
          <p:nvPr/>
        </p:nvSpPr>
        <p:spPr>
          <a:xfrm>
            <a:off x="320040" y="1280160"/>
            <a:ext cx="1554480" cy="73152"/>
          </a:xfrm>
          <a:prstGeom prst="rect">
            <a:avLst/>
          </a:prstGeom>
          <a:solidFill>
            <a:srgbClr val="B85042"/>
          </a:solidFill>
          <a:ln/>
        </p:spPr>
      </p:sp>
      <p:sp>
        <p:nvSpPr>
          <p:cNvPr id="6" name="Shape 4"/>
          <p:cNvSpPr/>
          <p:nvPr/>
        </p:nvSpPr>
        <p:spPr>
          <a:xfrm>
            <a:off x="777240" y="1554480"/>
            <a:ext cx="640080" cy="640080"/>
          </a:xfrm>
          <a:prstGeom prst="ellipse">
            <a:avLst/>
          </a:prstGeom>
          <a:solidFill>
            <a:srgbClr val="B85042"/>
          </a:solidFill>
          <a:ln/>
        </p:spPr>
      </p:sp>
      <p:sp>
        <p:nvSpPr>
          <p:cNvPr id="7" name="Text 5"/>
          <p:cNvSpPr/>
          <p:nvPr/>
        </p:nvSpPr>
        <p:spPr>
          <a:xfrm>
            <a:off x="777240" y="1554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320040" y="2377440"/>
            <a:ext cx="1554480" cy="731520"/>
          </a:xfrm>
          <a:prstGeom prst="rect">
            <a:avLst/>
          </a:prstGeom>
          <a:noFill/>
          <a:ln/>
        </p:spPr>
        <p:txBody>
          <a:bodyPr wrap="square" lIns="0" tIns="0" rIns="0" bIns="0" rtlCol="0" anchor="ctr"/>
          <a:lstStyle/>
          <a:p>
            <a:pPr marL="0" indent="0" algn="ctr">
              <a:buNone/>
            </a:pPr>
            <a:r>
              <a:rPr lang="en-US" sz="1300" b="1" dirty="0">
                <a:solidFill>
                  <a:srgbClr val="2D1B0E"/>
                </a:solidFill>
                <a:latin typeface="Calibri" pitchFamily="34" charset="0"/>
                <a:ea typeface="Calibri" pitchFamily="34" charset="-122"/>
                <a:cs typeface="Calibri" pitchFamily="34" charset="-120"/>
              </a:rPr>
              <a:t>Customer</a:t>
            </a:r>
            <a:endParaRPr lang="en-US" sz="1300" dirty="0"/>
          </a:p>
          <a:p>
            <a:pPr marL="0" indent="0" algn="ctr">
              <a:buNone/>
            </a:pPr>
            <a:r>
              <a:rPr lang="en-US" sz="1300" b="1" dirty="0">
                <a:solidFill>
                  <a:srgbClr val="2D1B0E"/>
                </a:solidFill>
                <a:latin typeface="Calibri" pitchFamily="34" charset="0"/>
                <a:ea typeface="Calibri" pitchFamily="34" charset="-122"/>
                <a:cs typeface="Calibri" pitchFamily="34" charset="-120"/>
              </a:rPr>
              <a:t>Experience</a:t>
            </a:r>
            <a:endParaRPr lang="en-US" sz="1300" dirty="0"/>
          </a:p>
        </p:txBody>
      </p:sp>
      <p:sp>
        <p:nvSpPr>
          <p:cNvPr id="9" name="Text 7"/>
          <p:cNvSpPr/>
          <p:nvPr/>
        </p:nvSpPr>
        <p:spPr>
          <a:xfrm>
            <a:off x="411480" y="3200400"/>
            <a:ext cx="1371600" cy="822960"/>
          </a:xfrm>
          <a:prstGeom prst="rect">
            <a:avLst/>
          </a:prstGeom>
          <a:noFill/>
          <a:ln/>
        </p:spPr>
        <p:txBody>
          <a:bodyPr wrap="square" lIns="0" tIns="0" rIns="0" bIns="0" rtlCol="0" anchor="t"/>
          <a:lstStyle/>
          <a:p>
            <a:pPr marL="0" indent="0" algn="ctr">
              <a:buNone/>
            </a:pPr>
            <a:r>
              <a:rPr lang="en-US" sz="1100" dirty="0">
                <a:solidFill>
                  <a:srgbClr val="6B5B4F"/>
                </a:solidFill>
                <a:latin typeface="Calibri" pitchFamily="34" charset="0"/>
                <a:ea typeface="Calibri" pitchFamily="34" charset="-122"/>
                <a:cs typeface="Calibri" pitchFamily="34" charset="-120"/>
              </a:rPr>
              <a:t>Catalogo, carrito,</a:t>
            </a:r>
            <a:endParaRPr lang="en-US" sz="1100" dirty="0"/>
          </a:p>
          <a:p>
            <a:pPr marL="0" indent="0" algn="ctr">
              <a:buNone/>
            </a:pPr>
            <a:r>
              <a:rPr lang="en-US" sz="1100" dirty="0">
                <a:solidFill>
                  <a:srgbClr val="6B5B4F"/>
                </a:solidFill>
                <a:latin typeface="Calibri" pitchFamily="34" charset="0"/>
                <a:ea typeface="Calibri" pitchFamily="34" charset="-122"/>
                <a:cs typeface="Calibri" pitchFamily="34" charset="-120"/>
              </a:rPr>
              <a:t>checkout, CMS</a:t>
            </a:r>
            <a:endParaRPr lang="en-US" sz="1100" dirty="0"/>
          </a:p>
        </p:txBody>
      </p:sp>
      <p:sp>
        <p:nvSpPr>
          <p:cNvPr id="10" name="Shape 8"/>
          <p:cNvSpPr/>
          <p:nvPr/>
        </p:nvSpPr>
        <p:spPr>
          <a:xfrm>
            <a:off x="2057400" y="1280160"/>
            <a:ext cx="1554480" cy="2926080"/>
          </a:xfrm>
          <a:prstGeom prst="rect">
            <a:avLst/>
          </a:prstGeom>
          <a:solidFill>
            <a:srgbClr val="FFFFFF"/>
          </a:solidFill>
          <a:ln/>
          <a:effectLst>
            <a:outerShdw blurRad="76200" dist="25400" dir="8100000" algn="bl" rotWithShape="0">
              <a:srgbClr val="000000">
                <a:alpha val="12000"/>
              </a:srgbClr>
            </a:outerShdw>
          </a:effectLst>
        </p:spPr>
      </p:sp>
      <p:sp>
        <p:nvSpPr>
          <p:cNvPr id="11" name="Shape 9"/>
          <p:cNvSpPr/>
          <p:nvPr/>
        </p:nvSpPr>
        <p:spPr>
          <a:xfrm>
            <a:off x="2057400" y="1280160"/>
            <a:ext cx="1554480" cy="73152"/>
          </a:xfrm>
          <a:prstGeom prst="rect">
            <a:avLst/>
          </a:prstGeom>
          <a:solidFill>
            <a:srgbClr val="5D4037"/>
          </a:solidFill>
          <a:ln/>
        </p:spPr>
      </p:sp>
      <p:sp>
        <p:nvSpPr>
          <p:cNvPr id="12" name="Shape 10"/>
          <p:cNvSpPr/>
          <p:nvPr/>
        </p:nvSpPr>
        <p:spPr>
          <a:xfrm>
            <a:off x="2514600" y="1554480"/>
            <a:ext cx="640080" cy="640080"/>
          </a:xfrm>
          <a:prstGeom prst="ellipse">
            <a:avLst/>
          </a:prstGeom>
          <a:solidFill>
            <a:srgbClr val="5D4037"/>
          </a:solidFill>
          <a:ln/>
        </p:spPr>
      </p:sp>
      <p:sp>
        <p:nvSpPr>
          <p:cNvPr id="13" name="Text 11"/>
          <p:cNvSpPr/>
          <p:nvPr/>
        </p:nvSpPr>
        <p:spPr>
          <a:xfrm>
            <a:off x="2514600" y="1554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2057400" y="2377440"/>
            <a:ext cx="1554480" cy="731520"/>
          </a:xfrm>
          <a:prstGeom prst="rect">
            <a:avLst/>
          </a:prstGeom>
          <a:noFill/>
          <a:ln/>
        </p:spPr>
        <p:txBody>
          <a:bodyPr wrap="square" lIns="0" tIns="0" rIns="0" bIns="0" rtlCol="0" anchor="ctr"/>
          <a:lstStyle/>
          <a:p>
            <a:pPr marL="0" indent="0" algn="ctr">
              <a:buNone/>
            </a:pPr>
            <a:r>
              <a:rPr lang="en-US" sz="1300" b="1" dirty="0">
                <a:solidFill>
                  <a:srgbClr val="2D1B0E"/>
                </a:solidFill>
                <a:latin typeface="Calibri" pitchFamily="34" charset="0"/>
                <a:ea typeface="Calibri" pitchFamily="34" charset="-122"/>
                <a:cs typeface="Calibri" pitchFamily="34" charset="-120"/>
              </a:rPr>
              <a:t>Order</a:t>
            </a:r>
            <a:endParaRPr lang="en-US" sz="1300" dirty="0"/>
          </a:p>
          <a:p>
            <a:pPr marL="0" indent="0" algn="ctr">
              <a:buNone/>
            </a:pPr>
            <a:r>
              <a:rPr lang="en-US" sz="1300" b="1" dirty="0">
                <a:solidFill>
                  <a:srgbClr val="2D1B0E"/>
                </a:solidFill>
                <a:latin typeface="Calibri" pitchFamily="34" charset="0"/>
                <a:ea typeface="Calibri" pitchFamily="34" charset="-122"/>
                <a:cs typeface="Calibri" pitchFamily="34" charset="-120"/>
              </a:rPr>
              <a:t>Management</a:t>
            </a:r>
            <a:endParaRPr lang="en-US" sz="1300" dirty="0"/>
          </a:p>
        </p:txBody>
      </p:sp>
      <p:sp>
        <p:nvSpPr>
          <p:cNvPr id="15" name="Text 13"/>
          <p:cNvSpPr/>
          <p:nvPr/>
        </p:nvSpPr>
        <p:spPr>
          <a:xfrm>
            <a:off x="2148840" y="3200400"/>
            <a:ext cx="1371600" cy="822960"/>
          </a:xfrm>
          <a:prstGeom prst="rect">
            <a:avLst/>
          </a:prstGeom>
          <a:noFill/>
          <a:ln/>
        </p:spPr>
        <p:txBody>
          <a:bodyPr wrap="square" lIns="0" tIns="0" rIns="0" bIns="0" rtlCol="0" anchor="t"/>
          <a:lstStyle/>
          <a:p>
            <a:pPr marL="0" indent="0" algn="ctr">
              <a:buNone/>
            </a:pPr>
            <a:r>
              <a:rPr lang="en-US" sz="1100" dirty="0">
                <a:solidFill>
                  <a:srgbClr val="6B5B4F"/>
                </a:solidFill>
                <a:latin typeface="Calibri" pitchFamily="34" charset="0"/>
                <a:ea typeface="Calibri" pitchFamily="34" charset="-122"/>
                <a:cs typeface="Calibri" pitchFamily="34" charset="-120"/>
              </a:rPr>
              <a:t>Ordenes, pagos,</a:t>
            </a:r>
            <a:endParaRPr lang="en-US" sz="1100" dirty="0"/>
          </a:p>
          <a:p>
            <a:pPr marL="0" indent="0" algn="ctr">
              <a:buNone/>
            </a:pPr>
            <a:r>
              <a:rPr lang="en-US" sz="1100" dirty="0">
                <a:solidFill>
                  <a:srgbClr val="6B5B4F"/>
                </a:solidFill>
                <a:latin typeface="Calibri" pitchFamily="34" charset="0"/>
                <a:ea typeface="Calibri" pitchFamily="34" charset="-122"/>
                <a:cs typeface="Calibri" pitchFamily="34" charset="-120"/>
              </a:rPr>
              <a:t>envios</a:t>
            </a:r>
            <a:endParaRPr lang="en-US" sz="1100" dirty="0"/>
          </a:p>
        </p:txBody>
      </p:sp>
      <p:sp>
        <p:nvSpPr>
          <p:cNvPr id="16" name="Shape 14"/>
          <p:cNvSpPr/>
          <p:nvPr/>
        </p:nvSpPr>
        <p:spPr>
          <a:xfrm>
            <a:off x="3794760" y="1280160"/>
            <a:ext cx="1554480" cy="2926080"/>
          </a:xfrm>
          <a:prstGeom prst="rect">
            <a:avLst/>
          </a:prstGeom>
          <a:solidFill>
            <a:srgbClr val="FFFFFF"/>
          </a:solidFill>
          <a:ln/>
          <a:effectLst>
            <a:outerShdw blurRad="76200" dist="25400" dir="8100000" algn="bl" rotWithShape="0">
              <a:srgbClr val="000000">
                <a:alpha val="12000"/>
              </a:srgbClr>
            </a:outerShdw>
          </a:effectLst>
        </p:spPr>
      </p:sp>
      <p:sp>
        <p:nvSpPr>
          <p:cNvPr id="17" name="Shape 15"/>
          <p:cNvSpPr/>
          <p:nvPr/>
        </p:nvSpPr>
        <p:spPr>
          <a:xfrm>
            <a:off x="3794760" y="1280160"/>
            <a:ext cx="1554480" cy="73152"/>
          </a:xfrm>
          <a:prstGeom prst="rect">
            <a:avLst/>
          </a:prstGeom>
          <a:solidFill>
            <a:srgbClr val="37474F"/>
          </a:solidFill>
          <a:ln/>
        </p:spPr>
      </p:sp>
      <p:sp>
        <p:nvSpPr>
          <p:cNvPr id="18" name="Shape 16"/>
          <p:cNvSpPr/>
          <p:nvPr/>
        </p:nvSpPr>
        <p:spPr>
          <a:xfrm>
            <a:off x="4251960" y="1554480"/>
            <a:ext cx="640080" cy="640080"/>
          </a:xfrm>
          <a:prstGeom prst="ellipse">
            <a:avLst/>
          </a:prstGeom>
          <a:solidFill>
            <a:srgbClr val="37474F"/>
          </a:solidFill>
          <a:ln/>
        </p:spPr>
      </p:sp>
      <p:sp>
        <p:nvSpPr>
          <p:cNvPr id="19" name="Text 17"/>
          <p:cNvSpPr/>
          <p:nvPr/>
        </p:nvSpPr>
        <p:spPr>
          <a:xfrm>
            <a:off x="4251960" y="1554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0" name="Text 18"/>
          <p:cNvSpPr/>
          <p:nvPr/>
        </p:nvSpPr>
        <p:spPr>
          <a:xfrm>
            <a:off x="3794760" y="2377440"/>
            <a:ext cx="1554480" cy="731520"/>
          </a:xfrm>
          <a:prstGeom prst="rect">
            <a:avLst/>
          </a:prstGeom>
          <a:noFill/>
          <a:ln/>
        </p:spPr>
        <p:txBody>
          <a:bodyPr wrap="square" lIns="0" tIns="0" rIns="0" bIns="0" rtlCol="0" anchor="ctr"/>
          <a:lstStyle/>
          <a:p>
            <a:pPr marL="0" indent="0" algn="ctr">
              <a:buNone/>
            </a:pPr>
            <a:r>
              <a:rPr lang="en-US" sz="1300" b="1" dirty="0">
                <a:solidFill>
                  <a:srgbClr val="2D1B0E"/>
                </a:solidFill>
                <a:latin typeface="Calibri" pitchFamily="34" charset="0"/>
                <a:ea typeface="Calibri" pitchFamily="34" charset="-122"/>
                <a:cs typeface="Calibri" pitchFamily="34" charset="-120"/>
              </a:rPr>
              <a:t>Inventory</a:t>
            </a:r>
            <a:endParaRPr lang="en-US" sz="1300" dirty="0"/>
          </a:p>
          <a:p>
            <a:pPr marL="0" indent="0" algn="ctr">
              <a:buNone/>
            </a:pPr>
            <a:r>
              <a:rPr lang="en-US" sz="1300" b="1" dirty="0">
                <a:solidFill>
                  <a:srgbClr val="2D1B0E"/>
                </a:solidFill>
                <a:latin typeface="Calibri" pitchFamily="34" charset="0"/>
                <a:ea typeface="Calibri" pitchFamily="34" charset="-122"/>
                <a:cs typeface="Calibri" pitchFamily="34" charset="-120"/>
              </a:rPr>
              <a:t>Product</a:t>
            </a:r>
            <a:endParaRPr lang="en-US" sz="1300" dirty="0"/>
          </a:p>
        </p:txBody>
      </p:sp>
      <p:sp>
        <p:nvSpPr>
          <p:cNvPr id="21" name="Text 19"/>
          <p:cNvSpPr/>
          <p:nvPr/>
        </p:nvSpPr>
        <p:spPr>
          <a:xfrm>
            <a:off x="3886200" y="3200400"/>
            <a:ext cx="1371600" cy="822960"/>
          </a:xfrm>
          <a:prstGeom prst="rect">
            <a:avLst/>
          </a:prstGeom>
          <a:noFill/>
          <a:ln/>
        </p:spPr>
        <p:txBody>
          <a:bodyPr wrap="square" lIns="0" tIns="0" rIns="0" bIns="0" rtlCol="0" anchor="t"/>
          <a:lstStyle/>
          <a:p>
            <a:pPr marL="0" indent="0" algn="ctr">
              <a:buNone/>
            </a:pPr>
            <a:r>
              <a:rPr lang="en-US" sz="1100" dirty="0">
                <a:solidFill>
                  <a:srgbClr val="6B5B4F"/>
                </a:solidFill>
                <a:latin typeface="Calibri" pitchFamily="34" charset="0"/>
                <a:ea typeface="Calibri" pitchFamily="34" charset="-122"/>
                <a:cs typeface="Calibri" pitchFamily="34" charset="-120"/>
              </a:rPr>
              <a:t>Inventario, stock,</a:t>
            </a:r>
            <a:endParaRPr lang="en-US" sz="1100" dirty="0"/>
          </a:p>
          <a:p>
            <a:pPr marL="0" indent="0" algn="ctr">
              <a:buNone/>
            </a:pPr>
            <a:r>
              <a:rPr lang="en-US" sz="1100" dirty="0">
                <a:solidFill>
                  <a:srgbClr val="6B5B4F"/>
                </a:solidFill>
                <a:latin typeface="Calibri" pitchFamily="34" charset="0"/>
                <a:ea typeface="Calibri" pitchFamily="34" charset="-122"/>
                <a:cs typeface="Calibri" pitchFamily="34" charset="-120"/>
              </a:rPr>
              <a:t>precios</a:t>
            </a:r>
            <a:endParaRPr lang="en-US" sz="1100" dirty="0"/>
          </a:p>
        </p:txBody>
      </p:sp>
      <p:sp>
        <p:nvSpPr>
          <p:cNvPr id="22" name="Shape 20"/>
          <p:cNvSpPr/>
          <p:nvPr/>
        </p:nvSpPr>
        <p:spPr>
          <a:xfrm>
            <a:off x="5532120" y="1280160"/>
            <a:ext cx="1554480" cy="2926080"/>
          </a:xfrm>
          <a:prstGeom prst="rect">
            <a:avLst/>
          </a:prstGeom>
          <a:solidFill>
            <a:srgbClr val="FFFFFF"/>
          </a:solidFill>
          <a:ln/>
          <a:effectLst>
            <a:outerShdw blurRad="76200" dist="25400" dir="8100000" algn="bl" rotWithShape="0">
              <a:srgbClr val="000000">
                <a:alpha val="12000"/>
              </a:srgbClr>
            </a:outerShdw>
          </a:effectLst>
        </p:spPr>
      </p:sp>
      <p:sp>
        <p:nvSpPr>
          <p:cNvPr id="23" name="Shape 21"/>
          <p:cNvSpPr/>
          <p:nvPr/>
        </p:nvSpPr>
        <p:spPr>
          <a:xfrm>
            <a:off x="5532120" y="1280160"/>
            <a:ext cx="1554480" cy="73152"/>
          </a:xfrm>
          <a:prstGeom prst="rect">
            <a:avLst/>
          </a:prstGeom>
          <a:solidFill>
            <a:srgbClr val="1565C0"/>
          </a:solidFill>
          <a:ln/>
        </p:spPr>
      </p:sp>
      <p:sp>
        <p:nvSpPr>
          <p:cNvPr id="24" name="Shape 22"/>
          <p:cNvSpPr/>
          <p:nvPr/>
        </p:nvSpPr>
        <p:spPr>
          <a:xfrm>
            <a:off x="5989320" y="1554480"/>
            <a:ext cx="640080" cy="640080"/>
          </a:xfrm>
          <a:prstGeom prst="ellipse">
            <a:avLst/>
          </a:prstGeom>
          <a:solidFill>
            <a:srgbClr val="1565C0"/>
          </a:solidFill>
          <a:ln/>
        </p:spPr>
      </p:sp>
      <p:sp>
        <p:nvSpPr>
          <p:cNvPr id="25" name="Text 23"/>
          <p:cNvSpPr/>
          <p:nvPr/>
        </p:nvSpPr>
        <p:spPr>
          <a:xfrm>
            <a:off x="5989320" y="1554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6" name="Text 24"/>
          <p:cNvSpPr/>
          <p:nvPr/>
        </p:nvSpPr>
        <p:spPr>
          <a:xfrm>
            <a:off x="5532120" y="2377440"/>
            <a:ext cx="1554480" cy="731520"/>
          </a:xfrm>
          <a:prstGeom prst="rect">
            <a:avLst/>
          </a:prstGeom>
          <a:noFill/>
          <a:ln/>
        </p:spPr>
        <p:txBody>
          <a:bodyPr wrap="square" lIns="0" tIns="0" rIns="0" bIns="0" rtlCol="0" anchor="ctr"/>
          <a:lstStyle/>
          <a:p>
            <a:pPr marL="0" indent="0" algn="ctr">
              <a:buNone/>
            </a:pPr>
            <a:r>
              <a:rPr lang="en-US" sz="1300" b="1" dirty="0">
                <a:solidFill>
                  <a:srgbClr val="2D1B0E"/>
                </a:solidFill>
                <a:latin typeface="Calibri" pitchFamily="34" charset="0"/>
                <a:ea typeface="Calibri" pitchFamily="34" charset="-122"/>
                <a:cs typeface="Calibri" pitchFamily="34" charset="-120"/>
              </a:rPr>
              <a:t>Customer</a:t>
            </a:r>
            <a:endParaRPr lang="en-US" sz="1300" dirty="0"/>
          </a:p>
          <a:p>
            <a:pPr marL="0" indent="0" algn="ctr">
              <a:buNone/>
            </a:pPr>
            <a:r>
              <a:rPr lang="en-US" sz="1300" b="1" dirty="0">
                <a:solidFill>
                  <a:srgbClr val="2D1B0E"/>
                </a:solidFill>
                <a:latin typeface="Calibri" pitchFamily="34" charset="0"/>
                <a:ea typeface="Calibri" pitchFamily="34" charset="-122"/>
                <a:cs typeface="Calibri" pitchFamily="34" charset="-120"/>
              </a:rPr>
              <a:t>Loyalty</a:t>
            </a:r>
            <a:endParaRPr lang="en-US" sz="1300" dirty="0"/>
          </a:p>
        </p:txBody>
      </p:sp>
      <p:sp>
        <p:nvSpPr>
          <p:cNvPr id="27" name="Text 25"/>
          <p:cNvSpPr/>
          <p:nvPr/>
        </p:nvSpPr>
        <p:spPr>
          <a:xfrm>
            <a:off x="5623560" y="3200400"/>
            <a:ext cx="1371600" cy="822960"/>
          </a:xfrm>
          <a:prstGeom prst="rect">
            <a:avLst/>
          </a:prstGeom>
          <a:noFill/>
          <a:ln/>
        </p:spPr>
        <p:txBody>
          <a:bodyPr wrap="square" lIns="0" tIns="0" rIns="0" bIns="0" rtlCol="0" anchor="t"/>
          <a:lstStyle/>
          <a:p>
            <a:pPr marL="0" indent="0" algn="ctr">
              <a:buNone/>
            </a:pPr>
            <a:r>
              <a:rPr lang="en-US" sz="1100" dirty="0">
                <a:solidFill>
                  <a:srgbClr val="6B5B4F"/>
                </a:solidFill>
                <a:latin typeface="Calibri" pitchFamily="34" charset="0"/>
                <a:ea typeface="Calibri" pitchFamily="34" charset="-122"/>
                <a:cs typeface="Calibri" pitchFamily="34" charset="-120"/>
              </a:rPr>
              <a:t>Auth, usuarios,</a:t>
            </a:r>
            <a:endParaRPr lang="en-US" sz="1100" dirty="0"/>
          </a:p>
          <a:p>
            <a:pPr marL="0" indent="0" algn="ctr">
              <a:buNone/>
            </a:pPr>
            <a:r>
              <a:rPr lang="en-US" sz="1100" dirty="0">
                <a:solidFill>
                  <a:srgbClr val="6B5B4F"/>
                </a:solidFill>
                <a:latin typeface="Calibri" pitchFamily="34" charset="0"/>
                <a:ea typeface="Calibri" pitchFamily="34" charset="-122"/>
                <a:cs typeface="Calibri" pitchFamily="34" charset="-120"/>
              </a:rPr>
              <a:t>resenas</a:t>
            </a:r>
            <a:endParaRPr lang="en-US" sz="1100" dirty="0"/>
          </a:p>
        </p:txBody>
      </p:sp>
      <p:sp>
        <p:nvSpPr>
          <p:cNvPr id="28" name="Shape 26"/>
          <p:cNvSpPr/>
          <p:nvPr/>
        </p:nvSpPr>
        <p:spPr>
          <a:xfrm>
            <a:off x="7269480" y="1280160"/>
            <a:ext cx="1554480" cy="2926080"/>
          </a:xfrm>
          <a:prstGeom prst="rect">
            <a:avLst/>
          </a:prstGeom>
          <a:solidFill>
            <a:srgbClr val="FFFFFF"/>
          </a:solidFill>
          <a:ln/>
          <a:effectLst>
            <a:outerShdw blurRad="76200" dist="25400" dir="8100000" algn="bl" rotWithShape="0">
              <a:srgbClr val="000000">
                <a:alpha val="12000"/>
              </a:srgbClr>
            </a:outerShdw>
          </a:effectLst>
        </p:spPr>
      </p:sp>
      <p:sp>
        <p:nvSpPr>
          <p:cNvPr id="29" name="Shape 27"/>
          <p:cNvSpPr/>
          <p:nvPr/>
        </p:nvSpPr>
        <p:spPr>
          <a:xfrm>
            <a:off x="7269480" y="1280160"/>
            <a:ext cx="1554480" cy="73152"/>
          </a:xfrm>
          <a:prstGeom prst="rect">
            <a:avLst/>
          </a:prstGeom>
          <a:solidFill>
            <a:srgbClr val="A7BEAE"/>
          </a:solidFill>
          <a:ln/>
        </p:spPr>
      </p:sp>
      <p:sp>
        <p:nvSpPr>
          <p:cNvPr id="30" name="Shape 28"/>
          <p:cNvSpPr/>
          <p:nvPr/>
        </p:nvSpPr>
        <p:spPr>
          <a:xfrm>
            <a:off x="7726680" y="1554480"/>
            <a:ext cx="640080" cy="640080"/>
          </a:xfrm>
          <a:prstGeom prst="ellipse">
            <a:avLst/>
          </a:prstGeom>
          <a:solidFill>
            <a:srgbClr val="A7BEAE"/>
          </a:solidFill>
          <a:ln/>
        </p:spPr>
      </p:sp>
      <p:sp>
        <p:nvSpPr>
          <p:cNvPr id="31" name="Text 29"/>
          <p:cNvSpPr/>
          <p:nvPr/>
        </p:nvSpPr>
        <p:spPr>
          <a:xfrm>
            <a:off x="7726680" y="1554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32" name="Text 30"/>
          <p:cNvSpPr/>
          <p:nvPr/>
        </p:nvSpPr>
        <p:spPr>
          <a:xfrm>
            <a:off x="7269480" y="2377440"/>
            <a:ext cx="1554480" cy="731520"/>
          </a:xfrm>
          <a:prstGeom prst="rect">
            <a:avLst/>
          </a:prstGeom>
          <a:noFill/>
          <a:ln/>
        </p:spPr>
        <p:txBody>
          <a:bodyPr wrap="square" lIns="0" tIns="0" rIns="0" bIns="0" rtlCol="0" anchor="ctr"/>
          <a:lstStyle/>
          <a:p>
            <a:pPr marL="0" indent="0" algn="ctr">
              <a:buNone/>
            </a:pPr>
            <a:r>
              <a:rPr lang="en-US" sz="1300" b="1" dirty="0">
                <a:solidFill>
                  <a:srgbClr val="2D1B0E"/>
                </a:solidFill>
                <a:latin typeface="Calibri" pitchFamily="34" charset="0"/>
                <a:ea typeface="Calibri" pitchFamily="34" charset="-122"/>
                <a:cs typeface="Calibri" pitchFamily="34" charset="-120"/>
              </a:rPr>
              <a:t>Admin</a:t>
            </a:r>
            <a:endParaRPr lang="en-US" sz="1300" dirty="0"/>
          </a:p>
          <a:p>
            <a:pPr marL="0" indent="0" algn="ctr">
              <a:buNone/>
            </a:pPr>
            <a:r>
              <a:rPr lang="en-US" sz="1300" b="1" dirty="0">
                <a:solidFill>
                  <a:srgbClr val="2D1B0E"/>
                </a:solidFill>
                <a:latin typeface="Calibri" pitchFamily="34" charset="0"/>
                <a:ea typeface="Calibri" pitchFamily="34" charset="-122"/>
                <a:cs typeface="Calibri" pitchFamily="34" charset="-120"/>
              </a:rPr>
              <a:t>Analytics</a:t>
            </a:r>
            <a:endParaRPr lang="en-US" sz="1300" dirty="0"/>
          </a:p>
        </p:txBody>
      </p:sp>
      <p:sp>
        <p:nvSpPr>
          <p:cNvPr id="33" name="Text 31"/>
          <p:cNvSpPr/>
          <p:nvPr/>
        </p:nvSpPr>
        <p:spPr>
          <a:xfrm>
            <a:off x="7360920" y="3200400"/>
            <a:ext cx="1371600" cy="822960"/>
          </a:xfrm>
          <a:prstGeom prst="rect">
            <a:avLst/>
          </a:prstGeom>
          <a:noFill/>
          <a:ln/>
        </p:spPr>
        <p:txBody>
          <a:bodyPr wrap="square" lIns="0" tIns="0" rIns="0" bIns="0" rtlCol="0" anchor="t"/>
          <a:lstStyle/>
          <a:p>
            <a:pPr marL="0" indent="0" algn="ctr">
              <a:buNone/>
            </a:pPr>
            <a:r>
              <a:rPr lang="en-US" sz="1100" dirty="0">
                <a:solidFill>
                  <a:srgbClr val="6B5B4F"/>
                </a:solidFill>
                <a:latin typeface="Calibri" pitchFamily="34" charset="0"/>
                <a:ea typeface="Calibri" pitchFamily="34" charset="-122"/>
                <a:cs typeface="Calibri" pitchFamily="34" charset="-120"/>
              </a:rPr>
              <a:t>Administracion,</a:t>
            </a:r>
            <a:endParaRPr lang="en-US" sz="1100" dirty="0"/>
          </a:p>
          <a:p>
            <a:pPr marL="0" indent="0" algn="ctr">
              <a:buNone/>
            </a:pPr>
            <a:r>
              <a:rPr lang="en-US" sz="1100" dirty="0">
                <a:solidFill>
                  <a:srgbClr val="6B5B4F"/>
                </a:solidFill>
                <a:latin typeface="Calibri" pitchFamily="34" charset="0"/>
                <a:ea typeface="Calibri" pitchFamily="34" charset="-122"/>
                <a:cs typeface="Calibri" pitchFamily="34" charset="-120"/>
              </a:rPr>
              <a:t>analitica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Servicios y Puertos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Servicio</a:t>
                      </a:r>
                      <a:endParaRPr lang="en-US" sz="12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2D1B0E"/>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Puerto</a:t>
                      </a:r>
                      <a:endParaRPr lang="en-US" sz="12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2D1B0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Funcion Principal</a:t>
                      </a:r>
                      <a:endParaRPr lang="en-US" sz="12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2D1B0E"/>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AuthService</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100" b="1" dirty="0">
                          <a:solidFill>
                            <a:srgbClr val="B85042"/>
                          </a:solidFill>
                          <a:latin typeface="Calibri" pitchFamily="34" charset="0"/>
                          <a:ea typeface="Calibri" pitchFamily="34" charset="-122"/>
                          <a:cs typeface="Calibri" pitchFamily="34" charset="-120"/>
                        </a:rPr>
                        <a:t>8081</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Registro, login, recuperacion de contrasena</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CatalogService</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100" b="1" dirty="0">
                          <a:solidFill>
                            <a:srgbClr val="B85042"/>
                          </a:solidFill>
                          <a:latin typeface="Calibri" pitchFamily="34" charset="0"/>
                          <a:ea typeface="Calibri" pitchFamily="34" charset="-122"/>
                          <a:cs typeface="Calibri" pitchFamily="34" charset="-120"/>
                        </a:rPr>
                        <a:t>8082</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Consulta de catalogo y validacion de productos</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CartService</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100" b="1" dirty="0">
                          <a:solidFill>
                            <a:srgbClr val="B85042"/>
                          </a:solidFill>
                          <a:latin typeface="Calibri" pitchFamily="34" charset="0"/>
                          <a:ea typeface="Calibri" pitchFamily="34" charset="-122"/>
                          <a:cs typeface="Calibri" pitchFamily="34" charset="-120"/>
                        </a:rPr>
                        <a:t>8083</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Gestion del carrito de compras</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OrderService</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100" b="1" dirty="0">
                          <a:solidFill>
                            <a:srgbClr val="B85042"/>
                          </a:solidFill>
                          <a:latin typeface="Calibri" pitchFamily="34" charset="0"/>
                          <a:ea typeface="Calibri" pitchFamily="34" charset="-122"/>
                          <a:cs typeface="Calibri" pitchFamily="34" charset="-120"/>
                        </a:rPr>
                        <a:t>8084</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Creacion y gestion de ordenes</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PaymentService</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100" b="1" dirty="0">
                          <a:solidFill>
                            <a:srgbClr val="B85042"/>
                          </a:solidFill>
                          <a:latin typeface="Calibri" pitchFamily="34" charset="0"/>
                          <a:ea typeface="Calibri" pitchFamily="34" charset="-122"/>
                          <a:cs typeface="Calibri" pitchFamily="34" charset="-120"/>
                        </a:rPr>
                        <a:t>8085</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Autorizacion de pagos y generacion de factura PDF</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InventoryService</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100" b="1" dirty="0">
                          <a:solidFill>
                            <a:srgbClr val="B85042"/>
                          </a:solidFill>
                          <a:latin typeface="Calibri" pitchFamily="34" charset="0"/>
                          <a:ea typeface="Calibri" pitchFamily="34" charset="-122"/>
                          <a:cs typeface="Calibri" pitchFamily="34" charset="-120"/>
                        </a:rPr>
                        <a:t>8086</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CRUD de productos de inventario</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00" b="1" dirty="0">
                          <a:solidFill>
                            <a:srgbClr val="2D1B0E"/>
                          </a:solidFill>
                          <a:latin typeface="Calibri" pitchFamily="34" charset="0"/>
                          <a:ea typeface="Calibri" pitchFamily="34" charset="-122"/>
                          <a:cs typeface="Calibri" pitchFamily="34" charset="-120"/>
                        </a:rPr>
                        <a:t>API Gateway</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100" b="1" dirty="0">
                          <a:solidFill>
                            <a:srgbClr val="B85042"/>
                          </a:solidFill>
                          <a:latin typeface="Calibri" pitchFamily="34" charset="0"/>
                          <a:ea typeface="Calibri" pitchFamily="34" charset="-122"/>
                          <a:cs typeface="Calibri" pitchFamily="34" charset="-120"/>
                        </a:rPr>
                        <a:t>9090</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buNone/>
                      </a:pPr>
                      <a:r>
                        <a:rPr lang="en-US" sz="1100" dirty="0">
                          <a:solidFill>
                            <a:srgbClr val="6B5B4F"/>
                          </a:solidFill>
                          <a:latin typeface="Calibri" pitchFamily="34" charset="0"/>
                          <a:ea typeface="Calibri" pitchFamily="34" charset="-122"/>
                          <a:cs typeface="Calibri" pitchFamily="34" charset="-120"/>
                        </a:rPr>
                        <a:t>Entrada unica del frontend hacia los servicios</a:t>
                      </a:r>
                      <a:endParaRPr lang="en-US" sz="11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Arquitectura Limpia - CatalogService</a:t>
            </a:r>
            <a:endParaRPr lang="en-US" sz="2800" dirty="0"/>
          </a:p>
        </p:txBody>
      </p:sp>
      <p:sp>
        <p:nvSpPr>
          <p:cNvPr id="4" name="Shape 2"/>
          <p:cNvSpPr/>
          <p:nvPr/>
        </p:nvSpPr>
        <p:spPr>
          <a:xfrm>
            <a:off x="731520" y="1188720"/>
            <a:ext cx="3657600" cy="777240"/>
          </a:xfrm>
          <a:prstGeom prst="rect">
            <a:avLst/>
          </a:prstGeom>
          <a:solidFill>
            <a:srgbClr val="B85042"/>
          </a:solidFill>
          <a:ln/>
          <a:effectLst>
            <a:outerShdw blurRad="76200" dist="25400" dir="8100000" algn="bl" rotWithShape="0">
              <a:srgbClr val="000000">
                <a:alpha val="12000"/>
              </a:srgbClr>
            </a:outerShdw>
          </a:effectLst>
        </p:spPr>
      </p:sp>
      <p:sp>
        <p:nvSpPr>
          <p:cNvPr id="5" name="Text 3"/>
          <p:cNvSpPr/>
          <p:nvPr/>
        </p:nvSpPr>
        <p:spPr>
          <a:xfrm>
            <a:off x="731520" y="1188720"/>
            <a:ext cx="36576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Api</a:t>
            </a:r>
            <a:endParaRPr lang="en-US" sz="1400" dirty="0"/>
          </a:p>
        </p:txBody>
      </p:sp>
      <p:sp>
        <p:nvSpPr>
          <p:cNvPr id="6" name="Shape 4"/>
          <p:cNvSpPr/>
          <p:nvPr/>
        </p:nvSpPr>
        <p:spPr>
          <a:xfrm>
            <a:off x="1188720" y="2057400"/>
            <a:ext cx="2743200" cy="777240"/>
          </a:xfrm>
          <a:prstGeom prst="rect">
            <a:avLst/>
          </a:prstGeom>
          <a:solidFill>
            <a:srgbClr val="5D4037"/>
          </a:solidFill>
          <a:ln/>
          <a:effectLst>
            <a:outerShdw blurRad="76200" dist="25400" dir="8100000" algn="bl" rotWithShape="0">
              <a:srgbClr val="000000">
                <a:alpha val="12000"/>
              </a:srgbClr>
            </a:outerShdw>
          </a:effectLst>
        </p:spPr>
      </p:sp>
      <p:sp>
        <p:nvSpPr>
          <p:cNvPr id="7" name="Text 5"/>
          <p:cNvSpPr/>
          <p:nvPr/>
        </p:nvSpPr>
        <p:spPr>
          <a:xfrm>
            <a:off x="1188720" y="2057400"/>
            <a:ext cx="27432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Application</a:t>
            </a:r>
            <a:endParaRPr lang="en-US" sz="1400" dirty="0"/>
          </a:p>
        </p:txBody>
      </p:sp>
      <p:sp>
        <p:nvSpPr>
          <p:cNvPr id="8" name="Shape 6"/>
          <p:cNvSpPr/>
          <p:nvPr/>
        </p:nvSpPr>
        <p:spPr>
          <a:xfrm>
            <a:off x="1645920" y="2926080"/>
            <a:ext cx="1828800" cy="777240"/>
          </a:xfrm>
          <a:prstGeom prst="rect">
            <a:avLst/>
          </a:prstGeom>
          <a:solidFill>
            <a:srgbClr val="37474F"/>
          </a:solidFill>
          <a:ln/>
          <a:effectLst>
            <a:outerShdw blurRad="76200" dist="25400" dir="8100000" algn="bl" rotWithShape="0">
              <a:srgbClr val="000000">
                <a:alpha val="12000"/>
              </a:srgbClr>
            </a:outerShdw>
          </a:effectLst>
        </p:spPr>
      </p:sp>
      <p:sp>
        <p:nvSpPr>
          <p:cNvPr id="9" name="Text 7"/>
          <p:cNvSpPr/>
          <p:nvPr/>
        </p:nvSpPr>
        <p:spPr>
          <a:xfrm>
            <a:off x="1645920" y="2926080"/>
            <a:ext cx="18288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Domain</a:t>
            </a:r>
            <a:endParaRPr lang="en-US" sz="1400" dirty="0"/>
          </a:p>
        </p:txBody>
      </p:sp>
      <p:sp>
        <p:nvSpPr>
          <p:cNvPr id="10" name="Shape 8"/>
          <p:cNvSpPr/>
          <p:nvPr/>
        </p:nvSpPr>
        <p:spPr>
          <a:xfrm>
            <a:off x="2103120" y="3794760"/>
            <a:ext cx="914400" cy="777240"/>
          </a:xfrm>
          <a:prstGeom prst="rect">
            <a:avLst/>
          </a:prstGeom>
          <a:solidFill>
            <a:srgbClr val="1565C0"/>
          </a:solidFill>
          <a:ln/>
          <a:effectLst>
            <a:outerShdw blurRad="76200" dist="25400" dir="8100000" algn="bl" rotWithShape="0">
              <a:srgbClr val="000000">
                <a:alpha val="12000"/>
              </a:srgbClr>
            </a:outerShdw>
          </a:effectLst>
        </p:spPr>
      </p:sp>
      <p:sp>
        <p:nvSpPr>
          <p:cNvPr id="11" name="Text 9"/>
          <p:cNvSpPr/>
          <p:nvPr/>
        </p:nvSpPr>
        <p:spPr>
          <a:xfrm>
            <a:off x="2103120" y="3794760"/>
            <a:ext cx="9144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Infrastructure</a:t>
            </a:r>
            <a:endParaRPr lang="en-US" sz="1400" dirty="0"/>
          </a:p>
        </p:txBody>
      </p:sp>
      <p:sp>
        <p:nvSpPr>
          <p:cNvPr id="12" name="Shape 10"/>
          <p:cNvSpPr/>
          <p:nvPr/>
        </p:nvSpPr>
        <p:spPr>
          <a:xfrm>
            <a:off x="5029200" y="1188720"/>
            <a:ext cx="3657600" cy="594360"/>
          </a:xfrm>
          <a:prstGeom prst="rect">
            <a:avLst/>
          </a:prstGeom>
          <a:solidFill>
            <a:srgbClr val="FFFFFF"/>
          </a:solidFill>
          <a:ln/>
          <a:effectLst>
            <a:outerShdw blurRad="76200" dist="25400" dir="8100000" algn="bl" rotWithShape="0">
              <a:srgbClr val="000000">
                <a:alpha val="12000"/>
              </a:srgbClr>
            </a:outerShdw>
          </a:effectLst>
        </p:spPr>
      </p:sp>
      <p:sp>
        <p:nvSpPr>
          <p:cNvPr id="13" name="Shape 11"/>
          <p:cNvSpPr/>
          <p:nvPr/>
        </p:nvSpPr>
        <p:spPr>
          <a:xfrm>
            <a:off x="5029200" y="1188720"/>
            <a:ext cx="54864" cy="594360"/>
          </a:xfrm>
          <a:prstGeom prst="rect">
            <a:avLst/>
          </a:prstGeom>
          <a:solidFill>
            <a:srgbClr val="B85042"/>
          </a:solidFill>
          <a:ln/>
        </p:spPr>
      </p:sp>
      <p:sp>
        <p:nvSpPr>
          <p:cNvPr id="14" name="Text 12"/>
          <p:cNvSpPr/>
          <p:nvPr/>
        </p:nvSpPr>
        <p:spPr>
          <a:xfrm>
            <a:off x="5212080" y="1188720"/>
            <a:ext cx="3291840" cy="594360"/>
          </a:xfrm>
          <a:prstGeom prst="rect">
            <a:avLst/>
          </a:prstGeom>
          <a:noFill/>
          <a:ln/>
        </p:spPr>
        <p:txBody>
          <a:bodyPr wrap="square" lIns="0" tIns="0" rIns="0" bIns="0" rtlCol="0" anchor="ctr"/>
          <a:lstStyle/>
          <a:p>
            <a:pPr marL="0" indent="0">
              <a:buNone/>
            </a:pPr>
            <a:r>
              <a:rPr lang="en-US" sz="1200" b="1" dirty="0">
                <a:solidFill>
                  <a:srgbClr val="2D1B0E"/>
                </a:solidFill>
                <a:latin typeface="Calibri" pitchFamily="34" charset="0"/>
                <a:ea typeface="Calibri" pitchFamily="34" charset="-122"/>
                <a:cs typeface="Calibri" pitchFamily="34" charset="-120"/>
              </a:rPr>
              <a:t>Api  </a:t>
            </a:r>
            <a:r>
              <a:rPr lang="en-US" sz="1100" dirty="0">
                <a:solidFill>
                  <a:srgbClr val="6B5B4F"/>
                </a:solidFill>
                <a:latin typeface="Calibri" pitchFamily="34" charset="0"/>
                <a:ea typeface="Calibri" pitchFamily="34" charset="-122"/>
                <a:cs typeface="Calibri" pitchFamily="34" charset="-120"/>
              </a:rPr>
              <a:t>Expone endpoints HTTP</a:t>
            </a:r>
            <a:endParaRPr lang="en-US" sz="1200" dirty="0"/>
          </a:p>
        </p:txBody>
      </p:sp>
      <p:sp>
        <p:nvSpPr>
          <p:cNvPr id="15" name="Shape 13"/>
          <p:cNvSpPr/>
          <p:nvPr/>
        </p:nvSpPr>
        <p:spPr>
          <a:xfrm>
            <a:off x="5029200" y="1901952"/>
            <a:ext cx="3657600" cy="594360"/>
          </a:xfrm>
          <a:prstGeom prst="rect">
            <a:avLst/>
          </a:prstGeom>
          <a:solidFill>
            <a:srgbClr val="FFFFFF"/>
          </a:solidFill>
          <a:ln/>
          <a:effectLst>
            <a:outerShdw blurRad="76200" dist="25400" dir="8100000" algn="bl" rotWithShape="0">
              <a:srgbClr val="000000">
                <a:alpha val="12000"/>
              </a:srgbClr>
            </a:outerShdw>
          </a:effectLst>
        </p:spPr>
      </p:sp>
      <p:sp>
        <p:nvSpPr>
          <p:cNvPr id="16" name="Shape 14"/>
          <p:cNvSpPr/>
          <p:nvPr/>
        </p:nvSpPr>
        <p:spPr>
          <a:xfrm>
            <a:off x="5029200" y="1901952"/>
            <a:ext cx="54864" cy="594360"/>
          </a:xfrm>
          <a:prstGeom prst="rect">
            <a:avLst/>
          </a:prstGeom>
          <a:solidFill>
            <a:srgbClr val="B85042"/>
          </a:solidFill>
          <a:ln/>
        </p:spPr>
      </p:sp>
      <p:sp>
        <p:nvSpPr>
          <p:cNvPr id="17" name="Text 15"/>
          <p:cNvSpPr/>
          <p:nvPr/>
        </p:nvSpPr>
        <p:spPr>
          <a:xfrm>
            <a:off x="5212080" y="1901952"/>
            <a:ext cx="3291840" cy="594360"/>
          </a:xfrm>
          <a:prstGeom prst="rect">
            <a:avLst/>
          </a:prstGeom>
          <a:noFill/>
          <a:ln/>
        </p:spPr>
        <p:txBody>
          <a:bodyPr wrap="square" lIns="0" tIns="0" rIns="0" bIns="0" rtlCol="0" anchor="ctr"/>
          <a:lstStyle/>
          <a:p>
            <a:pPr marL="0" indent="0">
              <a:buNone/>
            </a:pPr>
            <a:r>
              <a:rPr lang="en-US" sz="1200" b="1" dirty="0">
                <a:solidFill>
                  <a:srgbClr val="2D1B0E"/>
                </a:solidFill>
                <a:latin typeface="Calibri" pitchFamily="34" charset="0"/>
                <a:ea typeface="Calibri" pitchFamily="34" charset="-122"/>
                <a:cs typeface="Calibri" pitchFamily="34" charset="-120"/>
              </a:rPr>
              <a:t>Application  </a:t>
            </a:r>
            <a:r>
              <a:rPr lang="en-US" sz="1100" dirty="0">
                <a:solidFill>
                  <a:srgbClr val="6B5B4F"/>
                </a:solidFill>
                <a:latin typeface="Calibri" pitchFamily="34" charset="0"/>
                <a:ea typeface="Calibri" pitchFamily="34" charset="-122"/>
                <a:cs typeface="Calibri" pitchFamily="34" charset="-120"/>
              </a:rPr>
              <a:t>Casos de uso y logica de aplicacion</a:t>
            </a:r>
            <a:endParaRPr lang="en-US" sz="1200" dirty="0"/>
          </a:p>
        </p:txBody>
      </p:sp>
      <p:sp>
        <p:nvSpPr>
          <p:cNvPr id="18" name="Shape 16"/>
          <p:cNvSpPr/>
          <p:nvPr/>
        </p:nvSpPr>
        <p:spPr>
          <a:xfrm>
            <a:off x="5029200" y="2615184"/>
            <a:ext cx="3657600" cy="594360"/>
          </a:xfrm>
          <a:prstGeom prst="rect">
            <a:avLst/>
          </a:prstGeom>
          <a:solidFill>
            <a:srgbClr val="FFFFFF"/>
          </a:solidFill>
          <a:ln/>
          <a:effectLst>
            <a:outerShdw blurRad="76200" dist="25400" dir="8100000" algn="bl" rotWithShape="0">
              <a:srgbClr val="000000">
                <a:alpha val="12000"/>
              </a:srgbClr>
            </a:outerShdw>
          </a:effectLst>
        </p:spPr>
      </p:sp>
      <p:sp>
        <p:nvSpPr>
          <p:cNvPr id="19" name="Shape 17"/>
          <p:cNvSpPr/>
          <p:nvPr/>
        </p:nvSpPr>
        <p:spPr>
          <a:xfrm>
            <a:off x="5029200" y="2615184"/>
            <a:ext cx="54864" cy="594360"/>
          </a:xfrm>
          <a:prstGeom prst="rect">
            <a:avLst/>
          </a:prstGeom>
          <a:solidFill>
            <a:srgbClr val="B85042"/>
          </a:solidFill>
          <a:ln/>
        </p:spPr>
      </p:sp>
      <p:sp>
        <p:nvSpPr>
          <p:cNvPr id="20" name="Text 18"/>
          <p:cNvSpPr/>
          <p:nvPr/>
        </p:nvSpPr>
        <p:spPr>
          <a:xfrm>
            <a:off x="5212080" y="2615184"/>
            <a:ext cx="3291840" cy="594360"/>
          </a:xfrm>
          <a:prstGeom prst="rect">
            <a:avLst/>
          </a:prstGeom>
          <a:noFill/>
          <a:ln/>
        </p:spPr>
        <p:txBody>
          <a:bodyPr wrap="square" lIns="0" tIns="0" rIns="0" bIns="0" rtlCol="0" anchor="ctr"/>
          <a:lstStyle/>
          <a:p>
            <a:pPr marL="0" indent="0">
              <a:buNone/>
            </a:pPr>
            <a:r>
              <a:rPr lang="en-US" sz="1200" b="1" dirty="0">
                <a:solidFill>
                  <a:srgbClr val="2D1B0E"/>
                </a:solidFill>
                <a:latin typeface="Calibri" pitchFamily="34" charset="0"/>
                <a:ea typeface="Calibri" pitchFamily="34" charset="-122"/>
                <a:cs typeface="Calibri" pitchFamily="34" charset="-120"/>
              </a:rPr>
              <a:t>Domain  </a:t>
            </a:r>
            <a:r>
              <a:rPr lang="en-US" sz="1100" dirty="0">
                <a:solidFill>
                  <a:srgbClr val="6B5B4F"/>
                </a:solidFill>
                <a:latin typeface="Calibri" pitchFamily="34" charset="0"/>
                <a:ea typeface="Calibri" pitchFamily="34" charset="-122"/>
                <a:cs typeface="Calibri" pitchFamily="34" charset="-120"/>
              </a:rPr>
              <a:t>Entidades y reglas puras de negocio</a:t>
            </a:r>
            <a:endParaRPr lang="en-US" sz="1200" dirty="0"/>
          </a:p>
        </p:txBody>
      </p:sp>
      <p:sp>
        <p:nvSpPr>
          <p:cNvPr id="21" name="Shape 19"/>
          <p:cNvSpPr/>
          <p:nvPr/>
        </p:nvSpPr>
        <p:spPr>
          <a:xfrm>
            <a:off x="5029200" y="3328416"/>
            <a:ext cx="3657600" cy="594360"/>
          </a:xfrm>
          <a:prstGeom prst="rect">
            <a:avLst/>
          </a:prstGeom>
          <a:solidFill>
            <a:srgbClr val="FFFFFF"/>
          </a:solidFill>
          <a:ln/>
          <a:effectLst>
            <a:outerShdw blurRad="76200" dist="25400" dir="8100000" algn="bl" rotWithShape="0">
              <a:srgbClr val="000000">
                <a:alpha val="12000"/>
              </a:srgbClr>
            </a:outerShdw>
          </a:effectLst>
        </p:spPr>
      </p:sp>
      <p:sp>
        <p:nvSpPr>
          <p:cNvPr id="22" name="Shape 20"/>
          <p:cNvSpPr/>
          <p:nvPr/>
        </p:nvSpPr>
        <p:spPr>
          <a:xfrm>
            <a:off x="5029200" y="3328416"/>
            <a:ext cx="54864" cy="594360"/>
          </a:xfrm>
          <a:prstGeom prst="rect">
            <a:avLst/>
          </a:prstGeom>
          <a:solidFill>
            <a:srgbClr val="B85042"/>
          </a:solidFill>
          <a:ln/>
        </p:spPr>
      </p:sp>
      <p:sp>
        <p:nvSpPr>
          <p:cNvPr id="23" name="Text 21"/>
          <p:cNvSpPr/>
          <p:nvPr/>
        </p:nvSpPr>
        <p:spPr>
          <a:xfrm>
            <a:off x="5212080" y="3328416"/>
            <a:ext cx="3291840" cy="594360"/>
          </a:xfrm>
          <a:prstGeom prst="rect">
            <a:avLst/>
          </a:prstGeom>
          <a:noFill/>
          <a:ln/>
        </p:spPr>
        <p:txBody>
          <a:bodyPr wrap="square" lIns="0" tIns="0" rIns="0" bIns="0" rtlCol="0" anchor="ctr"/>
          <a:lstStyle/>
          <a:p>
            <a:pPr marL="0" indent="0">
              <a:buNone/>
            </a:pPr>
            <a:r>
              <a:rPr lang="en-US" sz="1200" b="1" dirty="0">
                <a:solidFill>
                  <a:srgbClr val="2D1B0E"/>
                </a:solidFill>
                <a:latin typeface="Calibri" pitchFamily="34" charset="0"/>
                <a:ea typeface="Calibri" pitchFamily="34" charset="-122"/>
                <a:cs typeface="Calibri" pitchFamily="34" charset="-120"/>
              </a:rPr>
              <a:t>Infrastructure  </a:t>
            </a:r>
            <a:r>
              <a:rPr lang="en-US" sz="1100" dirty="0">
                <a:solidFill>
                  <a:srgbClr val="6B5B4F"/>
                </a:solidFill>
                <a:latin typeface="Calibri" pitchFamily="34" charset="0"/>
                <a:ea typeface="Calibri" pitchFamily="34" charset="-122"/>
                <a:cs typeface="Calibri" pitchFamily="34" charset="-120"/>
              </a:rPr>
              <a:t>Repositorios e implementaciones tecnicas</a:t>
            </a:r>
            <a:endParaRPr lang="en-US" sz="1200" dirty="0"/>
          </a:p>
        </p:txBody>
      </p:sp>
      <p:sp>
        <p:nvSpPr>
          <p:cNvPr id="24" name="Shape 22"/>
          <p:cNvSpPr/>
          <p:nvPr/>
        </p:nvSpPr>
        <p:spPr>
          <a:xfrm>
            <a:off x="5029200" y="4041648"/>
            <a:ext cx="3657600" cy="594360"/>
          </a:xfrm>
          <a:prstGeom prst="rect">
            <a:avLst/>
          </a:prstGeom>
          <a:solidFill>
            <a:srgbClr val="FFFFFF"/>
          </a:solidFill>
          <a:ln/>
          <a:effectLst>
            <a:outerShdw blurRad="76200" dist="25400" dir="8100000" algn="bl" rotWithShape="0">
              <a:srgbClr val="000000">
                <a:alpha val="12000"/>
              </a:srgbClr>
            </a:outerShdw>
          </a:effectLst>
        </p:spPr>
      </p:sp>
      <p:sp>
        <p:nvSpPr>
          <p:cNvPr id="25" name="Shape 23"/>
          <p:cNvSpPr/>
          <p:nvPr/>
        </p:nvSpPr>
        <p:spPr>
          <a:xfrm>
            <a:off x="5029200" y="4041648"/>
            <a:ext cx="54864" cy="594360"/>
          </a:xfrm>
          <a:prstGeom prst="rect">
            <a:avLst/>
          </a:prstGeom>
          <a:solidFill>
            <a:srgbClr val="B85042"/>
          </a:solidFill>
          <a:ln/>
        </p:spPr>
      </p:sp>
      <p:sp>
        <p:nvSpPr>
          <p:cNvPr id="26" name="Text 24"/>
          <p:cNvSpPr/>
          <p:nvPr/>
        </p:nvSpPr>
        <p:spPr>
          <a:xfrm>
            <a:off x="5212080" y="4041648"/>
            <a:ext cx="3291840" cy="594360"/>
          </a:xfrm>
          <a:prstGeom prst="rect">
            <a:avLst/>
          </a:prstGeom>
          <a:noFill/>
          <a:ln/>
        </p:spPr>
        <p:txBody>
          <a:bodyPr wrap="square" lIns="0" tIns="0" rIns="0" bIns="0" rtlCol="0" anchor="ctr"/>
          <a:lstStyle/>
          <a:p>
            <a:pPr marL="0" indent="0">
              <a:buNone/>
            </a:pPr>
            <a:r>
              <a:rPr lang="en-US" sz="1200" b="1" dirty="0">
                <a:solidFill>
                  <a:srgbClr val="2D1B0E"/>
                </a:solidFill>
                <a:latin typeface="Calibri" pitchFamily="34" charset="0"/>
                <a:ea typeface="Calibri" pitchFamily="34" charset="-122"/>
                <a:cs typeface="Calibri" pitchFamily="34" charset="-120"/>
              </a:rPr>
              <a:t>Tests  </a:t>
            </a:r>
            <a:r>
              <a:rPr lang="en-US" sz="1100" dirty="0">
                <a:solidFill>
                  <a:srgbClr val="6B5B4F"/>
                </a:solidFill>
                <a:latin typeface="Calibri" pitchFamily="34" charset="0"/>
                <a:ea typeface="Calibri" pitchFamily="34" charset="-122"/>
                <a:cs typeface="Calibri" pitchFamily="34" charset="-120"/>
              </a:rPr>
              <a:t>Pruebas automatizadas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Flujo Funcional Principal</a:t>
            </a:r>
            <a:endParaRPr lang="en-US" sz="2800" dirty="0"/>
          </a:p>
        </p:txBody>
      </p:sp>
      <p:sp>
        <p:nvSpPr>
          <p:cNvPr id="4" name="Shape 2"/>
          <p:cNvSpPr/>
          <p:nvPr/>
        </p:nvSpPr>
        <p:spPr>
          <a:xfrm>
            <a:off x="1051560" y="1188720"/>
            <a:ext cx="548640" cy="548640"/>
          </a:xfrm>
          <a:prstGeom prst="ellipse">
            <a:avLst/>
          </a:prstGeom>
          <a:solidFill>
            <a:srgbClr val="B85042"/>
          </a:solidFill>
          <a:ln/>
        </p:spPr>
      </p:sp>
      <p:sp>
        <p:nvSpPr>
          <p:cNvPr id="5" name="Text 3"/>
          <p:cNvSpPr/>
          <p:nvPr/>
        </p:nvSpPr>
        <p:spPr>
          <a:xfrm>
            <a:off x="1051560" y="11887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457200" y="1874520"/>
            <a:ext cx="1737360" cy="822960"/>
          </a:xfrm>
          <a:prstGeom prst="rect">
            <a:avLst/>
          </a:prstGeom>
          <a:noFill/>
          <a:ln/>
        </p:spPr>
        <p:txBody>
          <a:bodyPr wrap="square" lIns="0" tIns="0" rIns="0" bIns="0" rtlCol="0" anchor="t"/>
          <a:lstStyle/>
          <a:p>
            <a:pPr marL="0" indent="0" algn="ctr">
              <a:buNone/>
            </a:pPr>
            <a:r>
              <a:rPr lang="en-US" sz="1200" dirty="0">
                <a:solidFill>
                  <a:srgbClr val="2D1B0E"/>
                </a:solidFill>
                <a:latin typeface="Calibri" pitchFamily="34" charset="0"/>
                <a:ea typeface="Calibri" pitchFamily="34" charset="-122"/>
                <a:cs typeface="Calibri" pitchFamily="34" charset="-120"/>
              </a:rPr>
              <a:t>El usuario abre</a:t>
            </a:r>
            <a:endParaRPr lang="en-US" sz="1200" dirty="0"/>
          </a:p>
          <a:p>
            <a:pPr marL="0" indent="0" algn="ctr">
              <a:buNone/>
            </a:pPr>
            <a:r>
              <a:rPr lang="en-US" sz="1200" dirty="0">
                <a:solidFill>
                  <a:srgbClr val="2D1B0E"/>
                </a:solidFill>
                <a:latin typeface="Calibri" pitchFamily="34" charset="0"/>
                <a:ea typeface="Calibri" pitchFamily="34" charset="-122"/>
                <a:cs typeface="Calibri" pitchFamily="34" charset="-120"/>
              </a:rPr>
              <a:t>la aplicacion web</a:t>
            </a:r>
            <a:endParaRPr lang="en-US" sz="1200" dirty="0"/>
          </a:p>
        </p:txBody>
      </p:sp>
      <p:pic>
        <p:nvPicPr>
          <p:cNvPr id="7" name="Image 0" descr="preencoded.png"/>
          <p:cNvPicPr>
            <a:picLocks noChangeAspect="1"/>
          </p:cNvPicPr>
          <p:nvPr/>
        </p:nvPicPr>
        <p:blipFill>
          <a:blip r:embed="rId3"/>
          <a:stretch>
            <a:fillRect/>
          </a:stretch>
        </p:blipFill>
        <p:spPr>
          <a:xfrm>
            <a:off x="2240280" y="1280160"/>
            <a:ext cx="274320" cy="274320"/>
          </a:xfrm>
          <a:prstGeom prst="rect">
            <a:avLst/>
          </a:prstGeom>
        </p:spPr>
      </p:pic>
      <p:sp>
        <p:nvSpPr>
          <p:cNvPr id="8" name="Shape 5"/>
          <p:cNvSpPr/>
          <p:nvPr/>
        </p:nvSpPr>
        <p:spPr>
          <a:xfrm>
            <a:off x="3200400" y="1188720"/>
            <a:ext cx="548640" cy="548640"/>
          </a:xfrm>
          <a:prstGeom prst="ellipse">
            <a:avLst/>
          </a:prstGeom>
          <a:solidFill>
            <a:srgbClr val="B85042"/>
          </a:solidFill>
          <a:ln/>
        </p:spPr>
      </p:sp>
      <p:sp>
        <p:nvSpPr>
          <p:cNvPr id="9" name="Text 6"/>
          <p:cNvSpPr/>
          <p:nvPr/>
        </p:nvSpPr>
        <p:spPr>
          <a:xfrm>
            <a:off x="3200400" y="11887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0" name="Text 7"/>
          <p:cNvSpPr/>
          <p:nvPr/>
        </p:nvSpPr>
        <p:spPr>
          <a:xfrm>
            <a:off x="2606040" y="1874520"/>
            <a:ext cx="1737360" cy="822960"/>
          </a:xfrm>
          <a:prstGeom prst="rect">
            <a:avLst/>
          </a:prstGeom>
          <a:noFill/>
          <a:ln/>
        </p:spPr>
        <p:txBody>
          <a:bodyPr wrap="square" lIns="0" tIns="0" rIns="0" bIns="0" rtlCol="0" anchor="t"/>
          <a:lstStyle/>
          <a:p>
            <a:pPr marL="0" indent="0" algn="ctr">
              <a:buNone/>
            </a:pPr>
            <a:r>
              <a:rPr lang="en-US" sz="1200" dirty="0">
                <a:solidFill>
                  <a:srgbClr val="2D1B0E"/>
                </a:solidFill>
                <a:latin typeface="Calibri" pitchFamily="34" charset="0"/>
                <a:ea typeface="Calibri" pitchFamily="34" charset="-122"/>
                <a:cs typeface="Calibri" pitchFamily="34" charset="-120"/>
              </a:rPr>
              <a:t>Consulta el</a:t>
            </a:r>
            <a:endParaRPr lang="en-US" sz="1200" dirty="0"/>
          </a:p>
          <a:p>
            <a:pPr marL="0" indent="0" algn="ctr">
              <a:buNone/>
            </a:pPr>
            <a:r>
              <a:rPr lang="en-US" sz="1200" dirty="0">
                <a:solidFill>
                  <a:srgbClr val="2D1B0E"/>
                </a:solidFill>
                <a:latin typeface="Calibri" pitchFamily="34" charset="0"/>
                <a:ea typeface="Calibri" pitchFamily="34" charset="-122"/>
                <a:cs typeface="Calibri" pitchFamily="34" charset="-120"/>
              </a:rPr>
              <a:t>catalogo</a:t>
            </a:r>
            <a:endParaRPr lang="en-US" sz="1200" dirty="0"/>
          </a:p>
        </p:txBody>
      </p:sp>
      <p:pic>
        <p:nvPicPr>
          <p:cNvPr id="11" name="Image 1" descr="preencoded.png"/>
          <p:cNvPicPr>
            <a:picLocks noChangeAspect="1"/>
          </p:cNvPicPr>
          <p:nvPr/>
        </p:nvPicPr>
        <p:blipFill>
          <a:blip r:embed="rId3"/>
          <a:stretch>
            <a:fillRect/>
          </a:stretch>
        </p:blipFill>
        <p:spPr>
          <a:xfrm>
            <a:off x="4389120" y="1280160"/>
            <a:ext cx="274320" cy="274320"/>
          </a:xfrm>
          <a:prstGeom prst="rect">
            <a:avLst/>
          </a:prstGeom>
        </p:spPr>
      </p:pic>
      <p:sp>
        <p:nvSpPr>
          <p:cNvPr id="12" name="Shape 8"/>
          <p:cNvSpPr/>
          <p:nvPr/>
        </p:nvSpPr>
        <p:spPr>
          <a:xfrm>
            <a:off x="5349240" y="1188720"/>
            <a:ext cx="548640" cy="548640"/>
          </a:xfrm>
          <a:prstGeom prst="ellipse">
            <a:avLst/>
          </a:prstGeom>
          <a:solidFill>
            <a:srgbClr val="B85042"/>
          </a:solidFill>
          <a:ln/>
        </p:spPr>
      </p:sp>
      <p:sp>
        <p:nvSpPr>
          <p:cNvPr id="13" name="Text 9"/>
          <p:cNvSpPr/>
          <p:nvPr/>
        </p:nvSpPr>
        <p:spPr>
          <a:xfrm>
            <a:off x="5349240" y="11887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4" name="Text 10"/>
          <p:cNvSpPr/>
          <p:nvPr/>
        </p:nvSpPr>
        <p:spPr>
          <a:xfrm>
            <a:off x="4754880" y="1874520"/>
            <a:ext cx="1737360" cy="822960"/>
          </a:xfrm>
          <a:prstGeom prst="rect">
            <a:avLst/>
          </a:prstGeom>
          <a:noFill/>
          <a:ln/>
        </p:spPr>
        <p:txBody>
          <a:bodyPr wrap="square" lIns="0" tIns="0" rIns="0" bIns="0" rtlCol="0" anchor="t"/>
          <a:lstStyle/>
          <a:p>
            <a:pPr marL="0" indent="0" algn="ctr">
              <a:buNone/>
            </a:pPr>
            <a:r>
              <a:rPr lang="en-US" sz="1200" dirty="0">
                <a:solidFill>
                  <a:srgbClr val="2D1B0E"/>
                </a:solidFill>
                <a:latin typeface="Calibri" pitchFamily="34" charset="0"/>
                <a:ea typeface="Calibri" pitchFamily="34" charset="-122"/>
                <a:cs typeface="Calibri" pitchFamily="34" charset="-120"/>
              </a:rPr>
              <a:t>Inicia sesion</a:t>
            </a:r>
            <a:endParaRPr lang="en-US" sz="1200" dirty="0"/>
          </a:p>
          <a:p>
            <a:pPr marL="0" indent="0" algn="ctr">
              <a:buNone/>
            </a:pPr>
            <a:r>
              <a:rPr lang="en-US" sz="1200" dirty="0">
                <a:solidFill>
                  <a:srgbClr val="2D1B0E"/>
                </a:solidFill>
                <a:latin typeface="Calibri" pitchFamily="34" charset="0"/>
                <a:ea typeface="Calibri" pitchFamily="34" charset="-122"/>
                <a:cs typeface="Calibri" pitchFamily="34" charset="-120"/>
              </a:rPr>
              <a:t>o se registra</a:t>
            </a:r>
            <a:endParaRPr lang="en-US" sz="1200" dirty="0"/>
          </a:p>
        </p:txBody>
      </p:sp>
      <p:pic>
        <p:nvPicPr>
          <p:cNvPr id="15" name="Image 2" descr="preencoded.png"/>
          <p:cNvPicPr>
            <a:picLocks noChangeAspect="1"/>
          </p:cNvPicPr>
          <p:nvPr/>
        </p:nvPicPr>
        <p:blipFill>
          <a:blip r:embed="rId3"/>
          <a:stretch>
            <a:fillRect/>
          </a:stretch>
        </p:blipFill>
        <p:spPr>
          <a:xfrm>
            <a:off x="6537960" y="1280160"/>
            <a:ext cx="274320" cy="274320"/>
          </a:xfrm>
          <a:prstGeom prst="rect">
            <a:avLst/>
          </a:prstGeom>
        </p:spPr>
      </p:pic>
      <p:sp>
        <p:nvSpPr>
          <p:cNvPr id="16" name="Shape 11"/>
          <p:cNvSpPr/>
          <p:nvPr/>
        </p:nvSpPr>
        <p:spPr>
          <a:xfrm>
            <a:off x="7498080" y="1188720"/>
            <a:ext cx="548640" cy="548640"/>
          </a:xfrm>
          <a:prstGeom prst="ellipse">
            <a:avLst/>
          </a:prstGeom>
          <a:solidFill>
            <a:srgbClr val="B85042"/>
          </a:solidFill>
          <a:ln/>
        </p:spPr>
      </p:sp>
      <p:sp>
        <p:nvSpPr>
          <p:cNvPr id="17" name="Text 12"/>
          <p:cNvSpPr/>
          <p:nvPr/>
        </p:nvSpPr>
        <p:spPr>
          <a:xfrm>
            <a:off x="7498080" y="118872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18" name="Text 13"/>
          <p:cNvSpPr/>
          <p:nvPr/>
        </p:nvSpPr>
        <p:spPr>
          <a:xfrm>
            <a:off x="6903720" y="1874520"/>
            <a:ext cx="1737360" cy="822960"/>
          </a:xfrm>
          <a:prstGeom prst="rect">
            <a:avLst/>
          </a:prstGeom>
          <a:noFill/>
          <a:ln/>
        </p:spPr>
        <p:txBody>
          <a:bodyPr wrap="square" lIns="0" tIns="0" rIns="0" bIns="0" rtlCol="0" anchor="t"/>
          <a:lstStyle/>
          <a:p>
            <a:pPr marL="0" indent="0" algn="ctr">
              <a:buNone/>
            </a:pPr>
            <a:r>
              <a:rPr lang="en-US" sz="1200" dirty="0">
                <a:solidFill>
                  <a:srgbClr val="2D1B0E"/>
                </a:solidFill>
                <a:latin typeface="Calibri" pitchFamily="34" charset="0"/>
                <a:ea typeface="Calibri" pitchFamily="34" charset="-122"/>
                <a:cs typeface="Calibri" pitchFamily="34" charset="-120"/>
              </a:rPr>
              <a:t>Agrega producto</a:t>
            </a:r>
            <a:endParaRPr lang="en-US" sz="1200" dirty="0"/>
          </a:p>
          <a:p>
            <a:pPr marL="0" indent="0" algn="ctr">
              <a:buNone/>
            </a:pPr>
            <a:r>
              <a:rPr lang="en-US" sz="1200" dirty="0">
                <a:solidFill>
                  <a:srgbClr val="2D1B0E"/>
                </a:solidFill>
                <a:latin typeface="Calibri" pitchFamily="34" charset="0"/>
                <a:ea typeface="Calibri" pitchFamily="34" charset="-122"/>
                <a:cs typeface="Calibri" pitchFamily="34" charset="-120"/>
              </a:rPr>
              <a:t>al carrito</a:t>
            </a:r>
            <a:endParaRPr lang="en-US" sz="1200" dirty="0"/>
          </a:p>
        </p:txBody>
      </p:sp>
      <p:sp>
        <p:nvSpPr>
          <p:cNvPr id="19" name="Shape 14"/>
          <p:cNvSpPr/>
          <p:nvPr/>
        </p:nvSpPr>
        <p:spPr>
          <a:xfrm>
            <a:off x="1051560" y="3108960"/>
            <a:ext cx="548640" cy="548640"/>
          </a:xfrm>
          <a:prstGeom prst="ellipse">
            <a:avLst/>
          </a:prstGeom>
          <a:solidFill>
            <a:srgbClr val="B85042"/>
          </a:solidFill>
          <a:ln/>
        </p:spPr>
      </p:sp>
      <p:sp>
        <p:nvSpPr>
          <p:cNvPr id="20" name="Text 15"/>
          <p:cNvSpPr/>
          <p:nvPr/>
        </p:nvSpPr>
        <p:spPr>
          <a:xfrm>
            <a:off x="1051560" y="31089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1" name="Text 16"/>
          <p:cNvSpPr/>
          <p:nvPr/>
        </p:nvSpPr>
        <p:spPr>
          <a:xfrm>
            <a:off x="457200" y="3794760"/>
            <a:ext cx="1737360" cy="822960"/>
          </a:xfrm>
          <a:prstGeom prst="rect">
            <a:avLst/>
          </a:prstGeom>
          <a:noFill/>
          <a:ln/>
        </p:spPr>
        <p:txBody>
          <a:bodyPr wrap="square" lIns="0" tIns="0" rIns="0" bIns="0" rtlCol="0" anchor="t"/>
          <a:lstStyle/>
          <a:p>
            <a:pPr marL="0" indent="0" algn="ctr">
              <a:buNone/>
            </a:pPr>
            <a:r>
              <a:rPr lang="en-US" sz="1200" dirty="0">
                <a:solidFill>
                  <a:srgbClr val="2D1B0E"/>
                </a:solidFill>
                <a:latin typeface="Calibri" pitchFamily="34" charset="0"/>
                <a:ea typeface="Calibri" pitchFamily="34" charset="-122"/>
                <a:cs typeface="Calibri" pitchFamily="34" charset="-120"/>
              </a:rPr>
              <a:t>Checkout crea</a:t>
            </a:r>
            <a:endParaRPr lang="en-US" sz="1200" dirty="0"/>
          </a:p>
          <a:p>
            <a:pPr marL="0" indent="0" algn="ctr">
              <a:buNone/>
            </a:pPr>
            <a:r>
              <a:rPr lang="en-US" sz="1200" dirty="0">
                <a:solidFill>
                  <a:srgbClr val="2D1B0E"/>
                </a:solidFill>
                <a:latin typeface="Calibri" pitchFamily="34" charset="0"/>
                <a:ea typeface="Calibri" pitchFamily="34" charset="-122"/>
                <a:cs typeface="Calibri" pitchFamily="34" charset="-120"/>
              </a:rPr>
              <a:t>una orden</a:t>
            </a:r>
            <a:endParaRPr lang="en-US" sz="1200" dirty="0"/>
          </a:p>
        </p:txBody>
      </p:sp>
      <p:pic>
        <p:nvPicPr>
          <p:cNvPr id="22" name="Image 3" descr="preencoded.png"/>
          <p:cNvPicPr>
            <a:picLocks noChangeAspect="1"/>
          </p:cNvPicPr>
          <p:nvPr/>
        </p:nvPicPr>
        <p:blipFill>
          <a:blip r:embed="rId3"/>
          <a:stretch>
            <a:fillRect/>
          </a:stretch>
        </p:blipFill>
        <p:spPr>
          <a:xfrm>
            <a:off x="2240280" y="3200400"/>
            <a:ext cx="274320" cy="274320"/>
          </a:xfrm>
          <a:prstGeom prst="rect">
            <a:avLst/>
          </a:prstGeom>
        </p:spPr>
      </p:pic>
      <p:sp>
        <p:nvSpPr>
          <p:cNvPr id="23" name="Shape 17"/>
          <p:cNvSpPr/>
          <p:nvPr/>
        </p:nvSpPr>
        <p:spPr>
          <a:xfrm>
            <a:off x="3200400" y="3108960"/>
            <a:ext cx="548640" cy="548640"/>
          </a:xfrm>
          <a:prstGeom prst="ellipse">
            <a:avLst/>
          </a:prstGeom>
          <a:solidFill>
            <a:srgbClr val="B85042"/>
          </a:solidFill>
          <a:ln/>
        </p:spPr>
      </p:sp>
      <p:sp>
        <p:nvSpPr>
          <p:cNvPr id="24" name="Text 18"/>
          <p:cNvSpPr/>
          <p:nvPr/>
        </p:nvSpPr>
        <p:spPr>
          <a:xfrm>
            <a:off x="3200400" y="31089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25" name="Text 19"/>
          <p:cNvSpPr/>
          <p:nvPr/>
        </p:nvSpPr>
        <p:spPr>
          <a:xfrm>
            <a:off x="2606040" y="3794760"/>
            <a:ext cx="1737360" cy="822960"/>
          </a:xfrm>
          <a:prstGeom prst="rect">
            <a:avLst/>
          </a:prstGeom>
          <a:noFill/>
          <a:ln/>
        </p:spPr>
        <p:txBody>
          <a:bodyPr wrap="square" lIns="0" tIns="0" rIns="0" bIns="0" rtlCol="0" anchor="t"/>
          <a:lstStyle/>
          <a:p>
            <a:pPr marL="0" indent="0" algn="ctr">
              <a:buNone/>
            </a:pPr>
            <a:r>
              <a:rPr lang="en-US" sz="1200" dirty="0">
                <a:solidFill>
                  <a:srgbClr val="2D1B0E"/>
                </a:solidFill>
                <a:latin typeface="Calibri" pitchFamily="34" charset="0"/>
                <a:ea typeface="Calibri" pitchFamily="34" charset="-122"/>
                <a:cs typeface="Calibri" pitchFamily="34" charset="-120"/>
              </a:rPr>
              <a:t>Se autoriza</a:t>
            </a:r>
            <a:endParaRPr lang="en-US" sz="1200" dirty="0"/>
          </a:p>
          <a:p>
            <a:pPr marL="0" indent="0" algn="ctr">
              <a:buNone/>
            </a:pPr>
            <a:r>
              <a:rPr lang="en-US" sz="1200" dirty="0">
                <a:solidFill>
                  <a:srgbClr val="2D1B0E"/>
                </a:solidFill>
                <a:latin typeface="Calibri" pitchFamily="34" charset="0"/>
                <a:ea typeface="Calibri" pitchFamily="34" charset="-122"/>
                <a:cs typeface="Calibri" pitchFamily="34" charset="-120"/>
              </a:rPr>
              <a:t>el pago</a:t>
            </a:r>
            <a:endParaRPr lang="en-US" sz="1200" dirty="0"/>
          </a:p>
        </p:txBody>
      </p:sp>
      <p:pic>
        <p:nvPicPr>
          <p:cNvPr id="26" name="Image 4" descr="preencoded.png"/>
          <p:cNvPicPr>
            <a:picLocks noChangeAspect="1"/>
          </p:cNvPicPr>
          <p:nvPr/>
        </p:nvPicPr>
        <p:blipFill>
          <a:blip r:embed="rId3"/>
          <a:stretch>
            <a:fillRect/>
          </a:stretch>
        </p:blipFill>
        <p:spPr>
          <a:xfrm>
            <a:off x="4389120" y="3200400"/>
            <a:ext cx="274320" cy="274320"/>
          </a:xfrm>
          <a:prstGeom prst="rect">
            <a:avLst/>
          </a:prstGeom>
        </p:spPr>
      </p:pic>
      <p:sp>
        <p:nvSpPr>
          <p:cNvPr id="27" name="Shape 20"/>
          <p:cNvSpPr/>
          <p:nvPr/>
        </p:nvSpPr>
        <p:spPr>
          <a:xfrm>
            <a:off x="5349240" y="3108960"/>
            <a:ext cx="548640" cy="548640"/>
          </a:xfrm>
          <a:prstGeom prst="ellipse">
            <a:avLst/>
          </a:prstGeom>
          <a:solidFill>
            <a:srgbClr val="B85042"/>
          </a:solidFill>
          <a:ln/>
        </p:spPr>
      </p:sp>
      <p:sp>
        <p:nvSpPr>
          <p:cNvPr id="28" name="Text 21"/>
          <p:cNvSpPr/>
          <p:nvPr/>
        </p:nvSpPr>
        <p:spPr>
          <a:xfrm>
            <a:off x="5349240" y="31089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7</a:t>
            </a:r>
            <a:endParaRPr lang="en-US" sz="1800" dirty="0"/>
          </a:p>
        </p:txBody>
      </p:sp>
      <p:sp>
        <p:nvSpPr>
          <p:cNvPr id="29" name="Text 22"/>
          <p:cNvSpPr/>
          <p:nvPr/>
        </p:nvSpPr>
        <p:spPr>
          <a:xfrm>
            <a:off x="4754880" y="3794760"/>
            <a:ext cx="1737360" cy="822960"/>
          </a:xfrm>
          <a:prstGeom prst="rect">
            <a:avLst/>
          </a:prstGeom>
          <a:noFill/>
          <a:ln/>
        </p:spPr>
        <p:txBody>
          <a:bodyPr wrap="square" lIns="0" tIns="0" rIns="0" bIns="0" rtlCol="0" anchor="t"/>
          <a:lstStyle/>
          <a:p>
            <a:pPr marL="0" indent="0" algn="ctr">
              <a:buNone/>
            </a:pPr>
            <a:r>
              <a:rPr lang="en-US" sz="1200" dirty="0">
                <a:solidFill>
                  <a:srgbClr val="2D1B0E"/>
                </a:solidFill>
                <a:latin typeface="Calibri" pitchFamily="34" charset="0"/>
                <a:ea typeface="Calibri" pitchFamily="34" charset="-122"/>
                <a:cs typeface="Calibri" pitchFamily="34" charset="-120"/>
              </a:rPr>
              <a:t>Se genera</a:t>
            </a:r>
            <a:endParaRPr lang="en-US" sz="1200" dirty="0"/>
          </a:p>
          <a:p>
            <a:pPr marL="0" indent="0" algn="ctr">
              <a:buNone/>
            </a:pPr>
            <a:r>
              <a:rPr lang="en-US" sz="1200" dirty="0">
                <a:solidFill>
                  <a:srgbClr val="2D1B0E"/>
                </a:solidFill>
                <a:latin typeface="Calibri" pitchFamily="34" charset="0"/>
                <a:ea typeface="Calibri" pitchFamily="34" charset="-122"/>
                <a:cs typeface="Calibri" pitchFamily="34" charset="-120"/>
              </a:rPr>
              <a:t>la factura</a:t>
            </a:r>
            <a:endParaRPr lang="en-US" sz="1200" dirty="0"/>
          </a:p>
        </p:txBody>
      </p:sp>
      <p:pic>
        <p:nvPicPr>
          <p:cNvPr id="30" name="Image 5" descr="preencoded.png"/>
          <p:cNvPicPr>
            <a:picLocks noChangeAspect="1"/>
          </p:cNvPicPr>
          <p:nvPr/>
        </p:nvPicPr>
        <p:blipFill>
          <a:blip r:embed="rId3"/>
          <a:stretch>
            <a:fillRect/>
          </a:stretch>
        </p:blipFill>
        <p:spPr>
          <a:xfrm>
            <a:off x="6537960" y="3200400"/>
            <a:ext cx="274320" cy="274320"/>
          </a:xfrm>
          <a:prstGeom prst="rect">
            <a:avLst/>
          </a:prstGeom>
        </p:spPr>
      </p:pic>
      <p:sp>
        <p:nvSpPr>
          <p:cNvPr id="31" name="Shape 23"/>
          <p:cNvSpPr/>
          <p:nvPr/>
        </p:nvSpPr>
        <p:spPr>
          <a:xfrm>
            <a:off x="7498080" y="3108960"/>
            <a:ext cx="548640" cy="548640"/>
          </a:xfrm>
          <a:prstGeom prst="ellipse">
            <a:avLst/>
          </a:prstGeom>
          <a:solidFill>
            <a:srgbClr val="B85042"/>
          </a:solidFill>
          <a:ln/>
        </p:spPr>
      </p:sp>
      <p:sp>
        <p:nvSpPr>
          <p:cNvPr id="32" name="Text 24"/>
          <p:cNvSpPr/>
          <p:nvPr/>
        </p:nvSpPr>
        <p:spPr>
          <a:xfrm>
            <a:off x="7498080" y="31089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8</a:t>
            </a:r>
            <a:endParaRPr lang="en-US" sz="1800" dirty="0"/>
          </a:p>
        </p:txBody>
      </p:sp>
      <p:sp>
        <p:nvSpPr>
          <p:cNvPr id="33" name="Text 25"/>
          <p:cNvSpPr/>
          <p:nvPr/>
        </p:nvSpPr>
        <p:spPr>
          <a:xfrm>
            <a:off x="6903720" y="3794760"/>
            <a:ext cx="1737360" cy="822960"/>
          </a:xfrm>
          <a:prstGeom prst="rect">
            <a:avLst/>
          </a:prstGeom>
          <a:noFill/>
          <a:ln/>
        </p:spPr>
        <p:txBody>
          <a:bodyPr wrap="square" lIns="0" tIns="0" rIns="0" bIns="0" rtlCol="0" anchor="t"/>
          <a:lstStyle/>
          <a:p>
            <a:pPr marL="0" indent="0" algn="ctr">
              <a:buNone/>
            </a:pPr>
            <a:r>
              <a:rPr lang="en-US" sz="1200" dirty="0">
                <a:solidFill>
                  <a:srgbClr val="2D1B0E"/>
                </a:solidFill>
                <a:latin typeface="Calibri" pitchFamily="34" charset="0"/>
                <a:ea typeface="Calibri" pitchFamily="34" charset="-122"/>
                <a:cs typeface="Calibri" pitchFamily="34" charset="-120"/>
              </a:rPr>
              <a:t>Confirmacion</a:t>
            </a:r>
            <a:endParaRPr lang="en-US" sz="1200" dirty="0"/>
          </a:p>
          <a:p>
            <a:pPr marL="0" indent="0" algn="ctr">
              <a:buNone/>
            </a:pPr>
            <a:r>
              <a:rPr lang="en-US" sz="1200" dirty="0">
                <a:solidFill>
                  <a:srgbClr val="2D1B0E"/>
                </a:solidFill>
                <a:latin typeface="Calibri" pitchFamily="34" charset="0"/>
                <a:ea typeface="Calibri" pitchFamily="34" charset="-122"/>
                <a:cs typeface="Calibri" pitchFamily="34" charset="-120"/>
              </a:rPr>
              <a:t>de compra</a:t>
            </a:r>
            <a:endParaRPr lang="en-US" sz="1200" dirty="0"/>
          </a:p>
        </p:txBody>
      </p:sp>
      <p:sp>
        <p:nvSpPr>
          <p:cNvPr id="34" name="Shape 26"/>
          <p:cNvSpPr/>
          <p:nvPr/>
        </p:nvSpPr>
        <p:spPr>
          <a:xfrm>
            <a:off x="8321040" y="2468880"/>
            <a:ext cx="36576" cy="548640"/>
          </a:xfrm>
          <a:prstGeom prst="rect">
            <a:avLst/>
          </a:prstGeom>
          <a:solidFill>
            <a:srgbClr val="B85042"/>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Pruebas de Carga - Seleccion de Productos</a:t>
            </a:r>
            <a:endParaRPr lang="en-US" sz="2600" dirty="0"/>
          </a:p>
        </p:txBody>
      </p:sp>
      <p:sp>
        <p:nvSpPr>
          <p:cNvPr id="4" name="Shape 2"/>
          <p:cNvSpPr/>
          <p:nvPr/>
        </p:nvSpPr>
        <p:spPr>
          <a:xfrm>
            <a:off x="457200" y="1097280"/>
            <a:ext cx="1920240" cy="1280160"/>
          </a:xfrm>
          <a:prstGeom prst="rect">
            <a:avLst/>
          </a:prstGeom>
          <a:solidFill>
            <a:srgbClr val="FFFFFF"/>
          </a:solidFill>
          <a:ln/>
          <a:effectLst>
            <a:outerShdw blurRad="76200" dist="25400" dir="8100000" algn="bl" rotWithShape="0">
              <a:srgbClr val="000000">
                <a:alpha val="12000"/>
              </a:srgbClr>
            </a:outerShdw>
          </a:effectLst>
        </p:spPr>
      </p:sp>
      <p:sp>
        <p:nvSpPr>
          <p:cNvPr id="5" name="Shape 3"/>
          <p:cNvSpPr/>
          <p:nvPr/>
        </p:nvSpPr>
        <p:spPr>
          <a:xfrm>
            <a:off x="457200" y="1097280"/>
            <a:ext cx="1920240" cy="54864"/>
          </a:xfrm>
          <a:prstGeom prst="rect">
            <a:avLst/>
          </a:prstGeom>
          <a:solidFill>
            <a:srgbClr val="B85042"/>
          </a:solidFill>
          <a:ln/>
        </p:spPr>
      </p:sp>
      <p:sp>
        <p:nvSpPr>
          <p:cNvPr id="6" name="Text 4"/>
          <p:cNvSpPr/>
          <p:nvPr/>
        </p:nvSpPr>
        <p:spPr>
          <a:xfrm>
            <a:off x="457200" y="1234440"/>
            <a:ext cx="1920240" cy="594360"/>
          </a:xfrm>
          <a:prstGeom prst="rect">
            <a:avLst/>
          </a:prstGeom>
          <a:noFill/>
          <a:ln/>
        </p:spPr>
        <p:txBody>
          <a:bodyPr wrap="square" lIns="0" tIns="0" rIns="0" bIns="0" rtlCol="0" anchor="ctr"/>
          <a:lstStyle/>
          <a:p>
            <a:pPr marL="0" indent="0" algn="ctr">
              <a:buNone/>
            </a:pPr>
            <a:r>
              <a:rPr lang="en-US" sz="3000" b="1" dirty="0">
                <a:solidFill>
                  <a:srgbClr val="B85042"/>
                </a:solidFill>
                <a:latin typeface="Georgia" pitchFamily="34" charset="0"/>
                <a:ea typeface="Georgia" pitchFamily="34" charset="-122"/>
                <a:cs typeface="Georgia" pitchFamily="34" charset="-120"/>
              </a:rPr>
              <a:t>1,000</a:t>
            </a:r>
            <a:endParaRPr lang="en-US" sz="3000" dirty="0"/>
          </a:p>
        </p:txBody>
      </p:sp>
      <p:sp>
        <p:nvSpPr>
          <p:cNvPr id="7" name="Text 5"/>
          <p:cNvSpPr/>
          <p:nvPr/>
        </p:nvSpPr>
        <p:spPr>
          <a:xfrm>
            <a:off x="457200" y="1828800"/>
            <a:ext cx="1920240" cy="457200"/>
          </a:xfrm>
          <a:prstGeom prst="rect">
            <a:avLst/>
          </a:prstGeom>
          <a:noFill/>
          <a:ln/>
        </p:spPr>
        <p:txBody>
          <a:bodyPr wrap="square" lIns="0" tIns="0" rIns="0" bIns="0" rtlCol="0" anchor="t"/>
          <a:lstStyle/>
          <a:p>
            <a:pPr marL="0" indent="0" algn="ctr">
              <a:buNone/>
            </a:pPr>
            <a:r>
              <a:rPr lang="en-US" sz="1000" dirty="0">
                <a:solidFill>
                  <a:srgbClr val="6B5B4F"/>
                </a:solidFill>
                <a:latin typeface="Calibri" pitchFamily="34" charset="0"/>
                <a:ea typeface="Calibri" pitchFamily="34" charset="-122"/>
                <a:cs typeface="Calibri" pitchFamily="34" charset="-120"/>
              </a:rPr>
              <a:t>Usuarios</a:t>
            </a:r>
            <a:endParaRPr lang="en-US" sz="1000" dirty="0"/>
          </a:p>
          <a:p>
            <a:pPr marL="0" indent="0" algn="ctr">
              <a:buNone/>
            </a:pPr>
            <a:r>
              <a:rPr lang="en-US" sz="1000" dirty="0">
                <a:solidFill>
                  <a:srgbClr val="6B5B4F"/>
                </a:solidFill>
                <a:latin typeface="Calibri" pitchFamily="34" charset="0"/>
                <a:ea typeface="Calibri" pitchFamily="34" charset="-122"/>
                <a:cs typeface="Calibri" pitchFamily="34" charset="-120"/>
              </a:rPr>
              <a:t>Concurrentes</a:t>
            </a:r>
            <a:endParaRPr lang="en-US" sz="1000" dirty="0"/>
          </a:p>
        </p:txBody>
      </p:sp>
      <p:sp>
        <p:nvSpPr>
          <p:cNvPr id="8" name="Shape 6"/>
          <p:cNvSpPr/>
          <p:nvPr/>
        </p:nvSpPr>
        <p:spPr>
          <a:xfrm>
            <a:off x="2606040" y="1097280"/>
            <a:ext cx="1920240" cy="1280160"/>
          </a:xfrm>
          <a:prstGeom prst="rect">
            <a:avLst/>
          </a:prstGeom>
          <a:solidFill>
            <a:srgbClr val="FFFFFF"/>
          </a:solidFill>
          <a:ln/>
          <a:effectLst>
            <a:outerShdw blurRad="76200" dist="25400" dir="8100000" algn="bl" rotWithShape="0">
              <a:srgbClr val="000000">
                <a:alpha val="12000"/>
              </a:srgbClr>
            </a:outerShdw>
          </a:effectLst>
        </p:spPr>
      </p:sp>
      <p:sp>
        <p:nvSpPr>
          <p:cNvPr id="9" name="Shape 7"/>
          <p:cNvSpPr/>
          <p:nvPr/>
        </p:nvSpPr>
        <p:spPr>
          <a:xfrm>
            <a:off x="2606040" y="1097280"/>
            <a:ext cx="1920240" cy="54864"/>
          </a:xfrm>
          <a:prstGeom prst="rect">
            <a:avLst/>
          </a:prstGeom>
          <a:solidFill>
            <a:srgbClr val="4CAF50"/>
          </a:solidFill>
          <a:ln/>
        </p:spPr>
      </p:sp>
      <p:sp>
        <p:nvSpPr>
          <p:cNvPr id="10" name="Text 8"/>
          <p:cNvSpPr/>
          <p:nvPr/>
        </p:nvSpPr>
        <p:spPr>
          <a:xfrm>
            <a:off x="2606040" y="1234440"/>
            <a:ext cx="1920240" cy="594360"/>
          </a:xfrm>
          <a:prstGeom prst="rect">
            <a:avLst/>
          </a:prstGeom>
          <a:noFill/>
          <a:ln/>
        </p:spPr>
        <p:txBody>
          <a:bodyPr wrap="square" lIns="0" tIns="0" rIns="0" bIns="0" rtlCol="0" anchor="ctr"/>
          <a:lstStyle/>
          <a:p>
            <a:pPr marL="0" indent="0" algn="ctr">
              <a:buNone/>
            </a:pPr>
            <a:r>
              <a:rPr lang="en-US" sz="3000" b="1" dirty="0">
                <a:solidFill>
                  <a:srgbClr val="4CAF50"/>
                </a:solidFill>
                <a:latin typeface="Georgia" pitchFamily="34" charset="0"/>
                <a:ea typeface="Georgia" pitchFamily="34" charset="-122"/>
                <a:cs typeface="Georgia" pitchFamily="34" charset="-120"/>
              </a:rPr>
              <a:t>0%</a:t>
            </a:r>
            <a:endParaRPr lang="en-US" sz="3000" dirty="0"/>
          </a:p>
        </p:txBody>
      </p:sp>
      <p:sp>
        <p:nvSpPr>
          <p:cNvPr id="11" name="Text 9"/>
          <p:cNvSpPr/>
          <p:nvPr/>
        </p:nvSpPr>
        <p:spPr>
          <a:xfrm>
            <a:off x="2606040" y="1828800"/>
            <a:ext cx="1920240" cy="457200"/>
          </a:xfrm>
          <a:prstGeom prst="rect">
            <a:avLst/>
          </a:prstGeom>
          <a:noFill/>
          <a:ln/>
        </p:spPr>
        <p:txBody>
          <a:bodyPr wrap="square" lIns="0" tIns="0" rIns="0" bIns="0" rtlCol="0" anchor="t"/>
          <a:lstStyle/>
          <a:p>
            <a:pPr marL="0" indent="0" algn="ctr">
              <a:buNone/>
            </a:pPr>
            <a:r>
              <a:rPr lang="en-US" sz="1000" dirty="0">
                <a:solidFill>
                  <a:srgbClr val="6B5B4F"/>
                </a:solidFill>
                <a:latin typeface="Calibri" pitchFamily="34" charset="0"/>
                <a:ea typeface="Calibri" pitchFamily="34" charset="-122"/>
                <a:cs typeface="Calibri" pitchFamily="34" charset="-120"/>
              </a:rPr>
              <a:t>Tasa de</a:t>
            </a:r>
            <a:endParaRPr lang="en-US" sz="1000" dirty="0"/>
          </a:p>
          <a:p>
            <a:pPr marL="0" indent="0" algn="ctr">
              <a:buNone/>
            </a:pPr>
            <a:r>
              <a:rPr lang="en-US" sz="1000" dirty="0">
                <a:solidFill>
                  <a:srgbClr val="6B5B4F"/>
                </a:solidFill>
                <a:latin typeface="Calibri" pitchFamily="34" charset="0"/>
                <a:ea typeface="Calibri" pitchFamily="34" charset="-122"/>
                <a:cs typeface="Calibri" pitchFamily="34" charset="-120"/>
              </a:rPr>
              <a:t>Error</a:t>
            </a:r>
            <a:endParaRPr lang="en-US" sz="1000" dirty="0"/>
          </a:p>
        </p:txBody>
      </p:sp>
      <p:sp>
        <p:nvSpPr>
          <p:cNvPr id="12" name="Shape 10"/>
          <p:cNvSpPr/>
          <p:nvPr/>
        </p:nvSpPr>
        <p:spPr>
          <a:xfrm>
            <a:off x="4754880" y="1097280"/>
            <a:ext cx="1920240" cy="1280160"/>
          </a:xfrm>
          <a:prstGeom prst="rect">
            <a:avLst/>
          </a:prstGeom>
          <a:solidFill>
            <a:srgbClr val="FFFFFF"/>
          </a:solidFill>
          <a:ln/>
          <a:effectLst>
            <a:outerShdw blurRad="76200" dist="25400" dir="8100000" algn="bl" rotWithShape="0">
              <a:srgbClr val="000000">
                <a:alpha val="12000"/>
              </a:srgbClr>
            </a:outerShdw>
          </a:effectLst>
        </p:spPr>
      </p:sp>
      <p:sp>
        <p:nvSpPr>
          <p:cNvPr id="13" name="Shape 11"/>
          <p:cNvSpPr/>
          <p:nvPr/>
        </p:nvSpPr>
        <p:spPr>
          <a:xfrm>
            <a:off x="4754880" y="1097280"/>
            <a:ext cx="1920240" cy="54864"/>
          </a:xfrm>
          <a:prstGeom prst="rect">
            <a:avLst/>
          </a:prstGeom>
          <a:solidFill>
            <a:srgbClr val="1565C0"/>
          </a:solidFill>
          <a:ln/>
        </p:spPr>
      </p:sp>
      <p:sp>
        <p:nvSpPr>
          <p:cNvPr id="14" name="Text 12"/>
          <p:cNvSpPr/>
          <p:nvPr/>
        </p:nvSpPr>
        <p:spPr>
          <a:xfrm>
            <a:off x="4754880" y="1234440"/>
            <a:ext cx="1920240" cy="594360"/>
          </a:xfrm>
          <a:prstGeom prst="rect">
            <a:avLst/>
          </a:prstGeom>
          <a:noFill/>
          <a:ln/>
        </p:spPr>
        <p:txBody>
          <a:bodyPr wrap="square" lIns="0" tIns="0" rIns="0" bIns="0" rtlCol="0" anchor="ctr"/>
          <a:lstStyle/>
          <a:p>
            <a:pPr marL="0" indent="0" algn="ctr">
              <a:buNone/>
            </a:pPr>
            <a:r>
              <a:rPr lang="en-US" sz="3000" b="1" dirty="0">
                <a:solidFill>
                  <a:srgbClr val="1565C0"/>
                </a:solidFill>
                <a:latin typeface="Georgia" pitchFamily="34" charset="0"/>
                <a:ea typeface="Georgia" pitchFamily="34" charset="-122"/>
                <a:cs typeface="Georgia" pitchFamily="34" charset="-120"/>
              </a:rPr>
              <a:t>37.5</a:t>
            </a:r>
            <a:endParaRPr lang="en-US" sz="3000" dirty="0"/>
          </a:p>
        </p:txBody>
      </p:sp>
      <p:sp>
        <p:nvSpPr>
          <p:cNvPr id="15" name="Text 13"/>
          <p:cNvSpPr/>
          <p:nvPr/>
        </p:nvSpPr>
        <p:spPr>
          <a:xfrm>
            <a:off x="4754880" y="1828800"/>
            <a:ext cx="1920240" cy="457200"/>
          </a:xfrm>
          <a:prstGeom prst="rect">
            <a:avLst/>
          </a:prstGeom>
          <a:noFill/>
          <a:ln/>
        </p:spPr>
        <p:txBody>
          <a:bodyPr wrap="square" lIns="0" tIns="0" rIns="0" bIns="0" rtlCol="0" anchor="t"/>
          <a:lstStyle/>
          <a:p>
            <a:pPr marL="0" indent="0" algn="ctr">
              <a:buNone/>
            </a:pPr>
            <a:r>
              <a:rPr lang="en-US" sz="1000" dirty="0">
                <a:solidFill>
                  <a:srgbClr val="6B5B4F"/>
                </a:solidFill>
                <a:latin typeface="Calibri" pitchFamily="34" charset="0"/>
                <a:ea typeface="Calibri" pitchFamily="34" charset="-122"/>
                <a:cs typeface="Calibri" pitchFamily="34" charset="-120"/>
              </a:rPr>
              <a:t>Throughput</a:t>
            </a:r>
            <a:endParaRPr lang="en-US" sz="1000" dirty="0"/>
          </a:p>
          <a:p>
            <a:pPr marL="0" indent="0" algn="ctr">
              <a:buNone/>
            </a:pPr>
            <a:r>
              <a:rPr lang="en-US" sz="1000" dirty="0">
                <a:solidFill>
                  <a:srgbClr val="6B5B4F"/>
                </a:solidFill>
                <a:latin typeface="Calibri" pitchFamily="34" charset="0"/>
                <a:ea typeface="Calibri" pitchFamily="34" charset="-122"/>
                <a:cs typeface="Calibri" pitchFamily="34" charset="-120"/>
              </a:rPr>
              <a:t>(req/s)</a:t>
            </a:r>
            <a:endParaRPr lang="en-US" sz="1000" dirty="0"/>
          </a:p>
        </p:txBody>
      </p:sp>
      <p:sp>
        <p:nvSpPr>
          <p:cNvPr id="16" name="Shape 14"/>
          <p:cNvSpPr/>
          <p:nvPr/>
        </p:nvSpPr>
        <p:spPr>
          <a:xfrm>
            <a:off x="6903720" y="1097280"/>
            <a:ext cx="1920240" cy="1280160"/>
          </a:xfrm>
          <a:prstGeom prst="rect">
            <a:avLst/>
          </a:prstGeom>
          <a:solidFill>
            <a:srgbClr val="FFFFFF"/>
          </a:solidFill>
          <a:ln/>
          <a:effectLst>
            <a:outerShdw blurRad="76200" dist="25400" dir="8100000" algn="bl" rotWithShape="0">
              <a:srgbClr val="000000">
                <a:alpha val="12000"/>
              </a:srgbClr>
            </a:outerShdw>
          </a:effectLst>
        </p:spPr>
      </p:sp>
      <p:sp>
        <p:nvSpPr>
          <p:cNvPr id="17" name="Shape 15"/>
          <p:cNvSpPr/>
          <p:nvPr/>
        </p:nvSpPr>
        <p:spPr>
          <a:xfrm>
            <a:off x="6903720" y="1097280"/>
            <a:ext cx="1920240" cy="54864"/>
          </a:xfrm>
          <a:prstGeom prst="rect">
            <a:avLst/>
          </a:prstGeom>
          <a:solidFill>
            <a:srgbClr val="A7BEAE"/>
          </a:solidFill>
          <a:ln/>
        </p:spPr>
      </p:sp>
      <p:sp>
        <p:nvSpPr>
          <p:cNvPr id="18" name="Text 16"/>
          <p:cNvSpPr/>
          <p:nvPr/>
        </p:nvSpPr>
        <p:spPr>
          <a:xfrm>
            <a:off x="6903720" y="1234440"/>
            <a:ext cx="1920240" cy="594360"/>
          </a:xfrm>
          <a:prstGeom prst="rect">
            <a:avLst/>
          </a:prstGeom>
          <a:noFill/>
          <a:ln/>
        </p:spPr>
        <p:txBody>
          <a:bodyPr wrap="square" lIns="0" tIns="0" rIns="0" bIns="0" rtlCol="0" anchor="ctr"/>
          <a:lstStyle/>
          <a:p>
            <a:pPr marL="0" indent="0" algn="ctr">
              <a:buNone/>
            </a:pPr>
            <a:r>
              <a:rPr lang="en-US" sz="3000" b="1" dirty="0">
                <a:solidFill>
                  <a:srgbClr val="A7BEAE"/>
                </a:solidFill>
                <a:latin typeface="Georgia" pitchFamily="34" charset="0"/>
                <a:ea typeface="Georgia" pitchFamily="34" charset="-122"/>
                <a:cs typeface="Georgia" pitchFamily="34" charset="-120"/>
              </a:rPr>
              <a:t>0.939</a:t>
            </a:r>
            <a:endParaRPr lang="en-US" sz="3000" dirty="0"/>
          </a:p>
        </p:txBody>
      </p:sp>
      <p:sp>
        <p:nvSpPr>
          <p:cNvPr id="19" name="Text 17"/>
          <p:cNvSpPr/>
          <p:nvPr/>
        </p:nvSpPr>
        <p:spPr>
          <a:xfrm>
            <a:off x="6903720" y="1828800"/>
            <a:ext cx="1920240" cy="457200"/>
          </a:xfrm>
          <a:prstGeom prst="rect">
            <a:avLst/>
          </a:prstGeom>
          <a:noFill/>
          <a:ln/>
        </p:spPr>
        <p:txBody>
          <a:bodyPr wrap="square" lIns="0" tIns="0" rIns="0" bIns="0" rtlCol="0" anchor="t"/>
          <a:lstStyle/>
          <a:p>
            <a:pPr marL="0" indent="0" algn="ctr">
              <a:buNone/>
            </a:pPr>
            <a:r>
              <a:rPr lang="en-US" sz="1000" dirty="0">
                <a:solidFill>
                  <a:srgbClr val="6B5B4F"/>
                </a:solidFill>
                <a:latin typeface="Calibri" pitchFamily="34" charset="0"/>
                <a:ea typeface="Calibri" pitchFamily="34" charset="-122"/>
                <a:cs typeface="Calibri" pitchFamily="34" charset="-120"/>
              </a:rPr>
              <a:t>APDEX</a:t>
            </a:r>
            <a:endParaRPr lang="en-US" sz="1000" dirty="0"/>
          </a:p>
          <a:p>
            <a:pPr marL="0" indent="0" algn="ctr">
              <a:buNone/>
            </a:pPr>
            <a:r>
              <a:rPr lang="en-US" sz="1000" dirty="0">
                <a:solidFill>
                  <a:srgbClr val="6B5B4F"/>
                </a:solidFill>
                <a:latin typeface="Calibri" pitchFamily="34" charset="0"/>
                <a:ea typeface="Calibri" pitchFamily="34" charset="-122"/>
                <a:cs typeface="Calibri" pitchFamily="34" charset="-120"/>
              </a:rPr>
              <a:t>General</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651760"/>
          <a:ext cx="804672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32004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Servicio</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2D1B0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Error %</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2D1B0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Prom (ms)</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2D1B0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APDEX</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2D1B0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Estado</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2D1B0E"/>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2D1B0E"/>
                          </a:solidFill>
                          <a:latin typeface="Calibri" pitchFamily="34" charset="0"/>
                          <a:ea typeface="Calibri" pitchFamily="34" charset="-122"/>
                          <a:cs typeface="Calibri" pitchFamily="34" charset="-120"/>
                        </a:rPr>
                        <a:t>Ingreso Usuario</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dirty="0">
                          <a:solidFill>
                            <a:srgbClr val="2D1B0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dirty="0">
                          <a:solidFill>
                            <a:srgbClr val="2D1B0E"/>
                          </a:solidFill>
                          <a:latin typeface="Calibri" pitchFamily="34" charset="0"/>
                          <a:ea typeface="Calibri" pitchFamily="34" charset="-122"/>
                          <a:cs typeface="Calibri" pitchFamily="34" charset="-120"/>
                        </a:rPr>
                        <a:t>547</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b="1" dirty="0">
                          <a:solidFill>
                            <a:srgbClr val="FB8C00"/>
                          </a:solidFill>
                          <a:latin typeface="Calibri" pitchFamily="34" charset="0"/>
                          <a:ea typeface="Calibri" pitchFamily="34" charset="-122"/>
                          <a:cs typeface="Calibri" pitchFamily="34" charset="-120"/>
                        </a:rPr>
                        <a:t>0.735</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b="1" dirty="0">
                          <a:solidFill>
                            <a:srgbClr val="FB8C00"/>
                          </a:solidFill>
                          <a:latin typeface="Calibri" pitchFamily="34" charset="0"/>
                          <a:ea typeface="Calibri" pitchFamily="34" charset="-122"/>
                          <a:cs typeface="Calibri" pitchFamily="34" charset="-120"/>
                        </a:rPr>
                        <a:t>Aceptable</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000" dirty="0">
                          <a:solidFill>
                            <a:srgbClr val="2D1B0E"/>
                          </a:solidFill>
                          <a:latin typeface="Calibri" pitchFamily="34" charset="0"/>
                          <a:ea typeface="Calibri" pitchFamily="34" charset="-122"/>
                          <a:cs typeface="Calibri" pitchFamily="34" charset="-120"/>
                        </a:rPr>
                        <a:t>Seleccionar Escritorio</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dirty="0">
                          <a:solidFill>
                            <a:srgbClr val="2D1B0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dirty="0">
                          <a:solidFill>
                            <a:srgbClr val="2D1B0E"/>
                          </a:solidFill>
                          <a:latin typeface="Calibri" pitchFamily="34" charset="0"/>
                          <a:ea typeface="Calibri" pitchFamily="34" charset="-122"/>
                          <a:cs typeface="Calibri" pitchFamily="34" charset="-120"/>
                        </a:rPr>
                        <a:t>164</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b="1" dirty="0">
                          <a:solidFill>
                            <a:srgbClr val="4CAF50"/>
                          </a:solidFill>
                          <a:latin typeface="Calibri" pitchFamily="34" charset="0"/>
                          <a:ea typeface="Calibri" pitchFamily="34" charset="-122"/>
                          <a:cs typeface="Calibri" pitchFamily="34" charset="-120"/>
                        </a:rPr>
                        <a:t>0.996</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b="1" dirty="0">
                          <a:solidFill>
                            <a:srgbClr val="4CAF50"/>
                          </a:solidFill>
                          <a:latin typeface="Calibri" pitchFamily="34" charset="0"/>
                          <a:ea typeface="Calibri" pitchFamily="34" charset="-122"/>
                          <a:cs typeface="Calibri" pitchFamily="34" charset="-120"/>
                        </a:rPr>
                        <a:t>Excelente</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000" dirty="0">
                          <a:solidFill>
                            <a:srgbClr val="2D1B0E"/>
                          </a:solidFill>
                          <a:latin typeface="Calibri" pitchFamily="34" charset="0"/>
                          <a:ea typeface="Calibri" pitchFamily="34" charset="-122"/>
                          <a:cs typeface="Calibri" pitchFamily="34" charset="-120"/>
                        </a:rPr>
                        <a:t>Seleccionar Mesa</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dirty="0">
                          <a:solidFill>
                            <a:srgbClr val="2D1B0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dirty="0">
                          <a:solidFill>
                            <a:srgbClr val="2D1B0E"/>
                          </a:solidFill>
                          <a:latin typeface="Calibri" pitchFamily="34" charset="0"/>
                          <a:ea typeface="Calibri" pitchFamily="34" charset="-122"/>
                          <a:cs typeface="Calibri" pitchFamily="34" charset="-120"/>
                        </a:rPr>
                        <a:t>173</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b="1" dirty="0">
                          <a:solidFill>
                            <a:srgbClr val="4CAF50"/>
                          </a:solidFill>
                          <a:latin typeface="Calibri" pitchFamily="34" charset="0"/>
                          <a:ea typeface="Calibri" pitchFamily="34" charset="-122"/>
                          <a:cs typeface="Calibri" pitchFamily="34" charset="-120"/>
                        </a:rPr>
                        <a:t>0.994</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b="1" dirty="0">
                          <a:solidFill>
                            <a:srgbClr val="4CAF50"/>
                          </a:solidFill>
                          <a:latin typeface="Calibri" pitchFamily="34" charset="0"/>
                          <a:ea typeface="Calibri" pitchFamily="34" charset="-122"/>
                          <a:cs typeface="Calibri" pitchFamily="34" charset="-120"/>
                        </a:rPr>
                        <a:t>Excelente</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1000" dirty="0">
                          <a:solidFill>
                            <a:srgbClr val="2D1B0E"/>
                          </a:solidFill>
                          <a:latin typeface="Calibri" pitchFamily="34" charset="0"/>
                          <a:ea typeface="Calibri" pitchFamily="34" charset="-122"/>
                          <a:cs typeface="Calibri" pitchFamily="34" charset="-120"/>
                        </a:rPr>
                        <a:t>Seleccionar Sofa</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dirty="0">
                          <a:solidFill>
                            <a:srgbClr val="2D1B0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dirty="0">
                          <a:solidFill>
                            <a:srgbClr val="2D1B0E"/>
                          </a:solidFill>
                          <a:latin typeface="Calibri" pitchFamily="34" charset="0"/>
                          <a:ea typeface="Calibri" pitchFamily="34" charset="-122"/>
                          <a:cs typeface="Calibri" pitchFamily="34" charset="-120"/>
                        </a:rPr>
                        <a:t>260</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b="1" dirty="0">
                          <a:solidFill>
                            <a:srgbClr val="4CAF50"/>
                          </a:solidFill>
                          <a:latin typeface="Calibri" pitchFamily="34" charset="0"/>
                          <a:ea typeface="Calibri" pitchFamily="34" charset="-122"/>
                          <a:cs typeface="Calibri" pitchFamily="34" charset="-120"/>
                        </a:rPr>
                        <a:t>0.974</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marL="0" indent="0" algn="ctr">
                        <a:buNone/>
                      </a:pPr>
                      <a:r>
                        <a:rPr lang="en-US" sz="1000" b="1" dirty="0">
                          <a:solidFill>
                            <a:srgbClr val="4CAF50"/>
                          </a:solidFill>
                          <a:latin typeface="Calibri" pitchFamily="34" charset="0"/>
                          <a:ea typeface="Calibri" pitchFamily="34" charset="-122"/>
                          <a:cs typeface="Calibri" pitchFamily="34" charset="-120"/>
                        </a:rPr>
                        <a:t>Excelente</a:t>
                      </a:r>
                      <a:endParaRPr lang="en-US" sz="1000" dirty="0">
                        <a:latin typeface="Calibri" charset="0"/>
                        <a:ea typeface="Calibri" charset="0"/>
                        <a:cs typeface="Calibri" charset="0"/>
                      </a:endParaRPr>
                    </a:p>
                  </a:txBody>
                  <a:tcPr>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1" name="Text 18"/>
          <p:cNvSpPr/>
          <p:nvPr/>
        </p:nvSpPr>
        <p:spPr>
          <a:xfrm>
            <a:off x="731520" y="4434840"/>
            <a:ext cx="7680960" cy="365760"/>
          </a:xfrm>
          <a:prstGeom prst="rect">
            <a:avLst/>
          </a:prstGeom>
          <a:noFill/>
          <a:ln/>
        </p:spPr>
        <p:txBody>
          <a:bodyPr wrap="square" lIns="0" tIns="0" rIns="0" bIns="0" rtlCol="0" anchor="ctr"/>
          <a:lstStyle/>
          <a:p>
            <a:pPr marL="0" indent="0">
              <a:buNone/>
            </a:pPr>
            <a:r>
              <a:rPr lang="en-US" sz="1100" b="1" i="1" dirty="0">
                <a:solidFill>
                  <a:srgbClr val="4CAF50"/>
                </a:solidFill>
                <a:latin typeface="Calibri" pitchFamily="34" charset="0"/>
                <a:ea typeface="Calibri" pitchFamily="34" charset="-122"/>
                <a:cs typeface="Calibri" pitchFamily="34" charset="-120"/>
              </a:rPr>
              <a:t>5,000 solicitudes procesadas sin errores. Catalogo estable bajo alta concurrencia.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Pruebas de Carga - Flujo de Pago</a:t>
            </a:r>
            <a:endParaRPr lang="en-US" sz="2600" dirty="0"/>
          </a:p>
        </p:txBody>
      </p:sp>
      <p:sp>
        <p:nvSpPr>
          <p:cNvPr id="4" name="Shape 2"/>
          <p:cNvSpPr/>
          <p:nvPr/>
        </p:nvSpPr>
        <p:spPr>
          <a:xfrm>
            <a:off x="457200" y="1097280"/>
            <a:ext cx="1920240" cy="1280160"/>
          </a:xfrm>
          <a:prstGeom prst="rect">
            <a:avLst/>
          </a:prstGeom>
          <a:solidFill>
            <a:srgbClr val="FFFFFF"/>
          </a:solidFill>
          <a:ln/>
          <a:effectLst>
            <a:outerShdw blurRad="76200" dist="25400" dir="8100000" algn="bl" rotWithShape="0">
              <a:srgbClr val="000000">
                <a:alpha val="12000"/>
              </a:srgbClr>
            </a:outerShdw>
          </a:effectLst>
        </p:spPr>
      </p:sp>
      <p:sp>
        <p:nvSpPr>
          <p:cNvPr id="5" name="Shape 3"/>
          <p:cNvSpPr/>
          <p:nvPr/>
        </p:nvSpPr>
        <p:spPr>
          <a:xfrm>
            <a:off x="457200" y="1097280"/>
            <a:ext cx="1920240" cy="54864"/>
          </a:xfrm>
          <a:prstGeom prst="rect">
            <a:avLst/>
          </a:prstGeom>
          <a:solidFill>
            <a:srgbClr val="B85042"/>
          </a:solidFill>
          <a:ln/>
        </p:spPr>
      </p:sp>
      <p:sp>
        <p:nvSpPr>
          <p:cNvPr id="6" name="Text 4"/>
          <p:cNvSpPr/>
          <p:nvPr/>
        </p:nvSpPr>
        <p:spPr>
          <a:xfrm>
            <a:off x="457200" y="1234440"/>
            <a:ext cx="1920240" cy="594360"/>
          </a:xfrm>
          <a:prstGeom prst="rect">
            <a:avLst/>
          </a:prstGeom>
          <a:noFill/>
          <a:ln/>
        </p:spPr>
        <p:txBody>
          <a:bodyPr wrap="square" lIns="0" tIns="0" rIns="0" bIns="0" rtlCol="0" anchor="ctr"/>
          <a:lstStyle/>
          <a:p>
            <a:pPr marL="0" indent="0" algn="ctr">
              <a:buNone/>
            </a:pPr>
            <a:r>
              <a:rPr lang="en-US" sz="3000" b="1" dirty="0">
                <a:solidFill>
                  <a:srgbClr val="B85042"/>
                </a:solidFill>
                <a:latin typeface="Georgia" pitchFamily="34" charset="0"/>
                <a:ea typeface="Georgia" pitchFamily="34" charset="-122"/>
                <a:cs typeface="Georgia" pitchFamily="34" charset="-120"/>
              </a:rPr>
              <a:t>500</a:t>
            </a:r>
            <a:endParaRPr lang="en-US" sz="3000" dirty="0"/>
          </a:p>
        </p:txBody>
      </p:sp>
      <p:sp>
        <p:nvSpPr>
          <p:cNvPr id="7" name="Text 5"/>
          <p:cNvSpPr/>
          <p:nvPr/>
        </p:nvSpPr>
        <p:spPr>
          <a:xfrm>
            <a:off x="457200" y="1828800"/>
            <a:ext cx="1920240" cy="457200"/>
          </a:xfrm>
          <a:prstGeom prst="rect">
            <a:avLst/>
          </a:prstGeom>
          <a:noFill/>
          <a:ln/>
        </p:spPr>
        <p:txBody>
          <a:bodyPr wrap="square" lIns="0" tIns="0" rIns="0" bIns="0" rtlCol="0" anchor="t"/>
          <a:lstStyle/>
          <a:p>
            <a:pPr marL="0" indent="0" algn="ctr">
              <a:buNone/>
            </a:pPr>
            <a:r>
              <a:rPr lang="en-US" sz="1000" dirty="0">
                <a:solidFill>
                  <a:srgbClr val="6B5B4F"/>
                </a:solidFill>
                <a:latin typeface="Calibri" pitchFamily="34" charset="0"/>
                <a:ea typeface="Calibri" pitchFamily="34" charset="-122"/>
                <a:cs typeface="Calibri" pitchFamily="34" charset="-120"/>
              </a:rPr>
              <a:t>Usuarios</a:t>
            </a:r>
            <a:endParaRPr lang="en-US" sz="1000" dirty="0"/>
          </a:p>
          <a:p>
            <a:pPr marL="0" indent="0" algn="ctr">
              <a:buNone/>
            </a:pPr>
            <a:r>
              <a:rPr lang="en-US" sz="1000" dirty="0">
                <a:solidFill>
                  <a:srgbClr val="6B5B4F"/>
                </a:solidFill>
                <a:latin typeface="Calibri" pitchFamily="34" charset="0"/>
                <a:ea typeface="Calibri" pitchFamily="34" charset="-122"/>
                <a:cs typeface="Calibri" pitchFamily="34" charset="-120"/>
              </a:rPr>
              <a:t>Concurrentes</a:t>
            </a:r>
            <a:endParaRPr lang="en-US" sz="1000" dirty="0"/>
          </a:p>
        </p:txBody>
      </p:sp>
      <p:sp>
        <p:nvSpPr>
          <p:cNvPr id="8" name="Shape 6"/>
          <p:cNvSpPr/>
          <p:nvPr/>
        </p:nvSpPr>
        <p:spPr>
          <a:xfrm>
            <a:off x="2606040" y="1097280"/>
            <a:ext cx="1920240" cy="1280160"/>
          </a:xfrm>
          <a:prstGeom prst="rect">
            <a:avLst/>
          </a:prstGeom>
          <a:solidFill>
            <a:srgbClr val="FFFFFF"/>
          </a:solidFill>
          <a:ln/>
          <a:effectLst>
            <a:outerShdw blurRad="76200" dist="25400" dir="8100000" algn="bl" rotWithShape="0">
              <a:srgbClr val="000000">
                <a:alpha val="12000"/>
              </a:srgbClr>
            </a:outerShdw>
          </a:effectLst>
        </p:spPr>
      </p:sp>
      <p:sp>
        <p:nvSpPr>
          <p:cNvPr id="9" name="Shape 7"/>
          <p:cNvSpPr/>
          <p:nvPr/>
        </p:nvSpPr>
        <p:spPr>
          <a:xfrm>
            <a:off x="2606040" y="1097280"/>
            <a:ext cx="1920240" cy="54864"/>
          </a:xfrm>
          <a:prstGeom prst="rect">
            <a:avLst/>
          </a:prstGeom>
          <a:solidFill>
            <a:srgbClr val="E53935"/>
          </a:solidFill>
          <a:ln/>
        </p:spPr>
      </p:sp>
      <p:sp>
        <p:nvSpPr>
          <p:cNvPr id="10" name="Text 8"/>
          <p:cNvSpPr/>
          <p:nvPr/>
        </p:nvSpPr>
        <p:spPr>
          <a:xfrm>
            <a:off x="2606040" y="1234440"/>
            <a:ext cx="1920240" cy="594360"/>
          </a:xfrm>
          <a:prstGeom prst="rect">
            <a:avLst/>
          </a:prstGeom>
          <a:noFill/>
          <a:ln/>
        </p:spPr>
        <p:txBody>
          <a:bodyPr wrap="square" lIns="0" tIns="0" rIns="0" bIns="0" rtlCol="0" anchor="ctr"/>
          <a:lstStyle/>
          <a:p>
            <a:pPr marL="0" indent="0" algn="ctr">
              <a:buNone/>
            </a:pPr>
            <a:r>
              <a:rPr lang="en-US" sz="3000" b="1" dirty="0">
                <a:solidFill>
                  <a:srgbClr val="E53935"/>
                </a:solidFill>
                <a:latin typeface="Georgia" pitchFamily="34" charset="0"/>
                <a:ea typeface="Georgia" pitchFamily="34" charset="-122"/>
                <a:cs typeface="Georgia" pitchFamily="34" charset="-120"/>
              </a:rPr>
              <a:t>41.4%</a:t>
            </a:r>
            <a:endParaRPr lang="en-US" sz="3000" dirty="0"/>
          </a:p>
        </p:txBody>
      </p:sp>
      <p:sp>
        <p:nvSpPr>
          <p:cNvPr id="11" name="Text 9"/>
          <p:cNvSpPr/>
          <p:nvPr/>
        </p:nvSpPr>
        <p:spPr>
          <a:xfrm>
            <a:off x="2606040" y="1828800"/>
            <a:ext cx="1920240" cy="457200"/>
          </a:xfrm>
          <a:prstGeom prst="rect">
            <a:avLst/>
          </a:prstGeom>
          <a:noFill/>
          <a:ln/>
        </p:spPr>
        <p:txBody>
          <a:bodyPr wrap="square" lIns="0" tIns="0" rIns="0" bIns="0" rtlCol="0" anchor="t"/>
          <a:lstStyle/>
          <a:p>
            <a:pPr marL="0" indent="0" algn="ctr">
              <a:buNone/>
            </a:pPr>
            <a:r>
              <a:rPr lang="en-US" sz="1000" dirty="0">
                <a:solidFill>
                  <a:srgbClr val="6B5B4F"/>
                </a:solidFill>
                <a:latin typeface="Calibri" pitchFamily="34" charset="0"/>
                <a:ea typeface="Calibri" pitchFamily="34" charset="-122"/>
                <a:cs typeface="Calibri" pitchFamily="34" charset="-120"/>
              </a:rPr>
              <a:t>Tasa de</a:t>
            </a:r>
            <a:endParaRPr lang="en-US" sz="1000" dirty="0"/>
          </a:p>
          <a:p>
            <a:pPr marL="0" indent="0" algn="ctr">
              <a:buNone/>
            </a:pPr>
            <a:r>
              <a:rPr lang="en-US" sz="1000" dirty="0">
                <a:solidFill>
                  <a:srgbClr val="6B5B4F"/>
                </a:solidFill>
                <a:latin typeface="Calibri" pitchFamily="34" charset="0"/>
                <a:ea typeface="Calibri" pitchFamily="34" charset="-122"/>
                <a:cs typeface="Calibri" pitchFamily="34" charset="-120"/>
              </a:rPr>
              <a:t>Error</a:t>
            </a:r>
            <a:endParaRPr lang="en-US" sz="1000" dirty="0"/>
          </a:p>
        </p:txBody>
      </p:sp>
      <p:sp>
        <p:nvSpPr>
          <p:cNvPr id="12" name="Shape 10"/>
          <p:cNvSpPr/>
          <p:nvPr/>
        </p:nvSpPr>
        <p:spPr>
          <a:xfrm>
            <a:off x="4754880" y="1097280"/>
            <a:ext cx="1920240" cy="1280160"/>
          </a:xfrm>
          <a:prstGeom prst="rect">
            <a:avLst/>
          </a:prstGeom>
          <a:solidFill>
            <a:srgbClr val="FFFFFF"/>
          </a:solidFill>
          <a:ln/>
          <a:effectLst>
            <a:outerShdw blurRad="76200" dist="25400" dir="8100000" algn="bl" rotWithShape="0">
              <a:srgbClr val="000000">
                <a:alpha val="12000"/>
              </a:srgbClr>
            </a:outerShdw>
          </a:effectLst>
        </p:spPr>
      </p:sp>
      <p:sp>
        <p:nvSpPr>
          <p:cNvPr id="13" name="Shape 11"/>
          <p:cNvSpPr/>
          <p:nvPr/>
        </p:nvSpPr>
        <p:spPr>
          <a:xfrm>
            <a:off x="4754880" y="1097280"/>
            <a:ext cx="1920240" cy="54864"/>
          </a:xfrm>
          <a:prstGeom prst="rect">
            <a:avLst/>
          </a:prstGeom>
          <a:solidFill>
            <a:srgbClr val="FB8C00"/>
          </a:solidFill>
          <a:ln/>
        </p:spPr>
      </p:sp>
      <p:sp>
        <p:nvSpPr>
          <p:cNvPr id="14" name="Text 12"/>
          <p:cNvSpPr/>
          <p:nvPr/>
        </p:nvSpPr>
        <p:spPr>
          <a:xfrm>
            <a:off x="4754880" y="1234440"/>
            <a:ext cx="1920240" cy="594360"/>
          </a:xfrm>
          <a:prstGeom prst="rect">
            <a:avLst/>
          </a:prstGeom>
          <a:noFill/>
          <a:ln/>
        </p:spPr>
        <p:txBody>
          <a:bodyPr wrap="square" lIns="0" tIns="0" rIns="0" bIns="0" rtlCol="0" anchor="ctr"/>
          <a:lstStyle/>
          <a:p>
            <a:pPr marL="0" indent="0" algn="ctr">
              <a:buNone/>
            </a:pPr>
            <a:r>
              <a:rPr lang="en-US" sz="3000" b="1" dirty="0">
                <a:solidFill>
                  <a:srgbClr val="FB8C00"/>
                </a:solidFill>
                <a:latin typeface="Georgia" pitchFamily="34" charset="0"/>
                <a:ea typeface="Georgia" pitchFamily="34" charset="-122"/>
                <a:cs typeface="Georgia" pitchFamily="34" charset="-120"/>
              </a:rPr>
              <a:t>21.7</a:t>
            </a:r>
            <a:endParaRPr lang="en-US" sz="3000" dirty="0"/>
          </a:p>
        </p:txBody>
      </p:sp>
      <p:sp>
        <p:nvSpPr>
          <p:cNvPr id="15" name="Text 13"/>
          <p:cNvSpPr/>
          <p:nvPr/>
        </p:nvSpPr>
        <p:spPr>
          <a:xfrm>
            <a:off x="4754880" y="1828800"/>
            <a:ext cx="1920240" cy="457200"/>
          </a:xfrm>
          <a:prstGeom prst="rect">
            <a:avLst/>
          </a:prstGeom>
          <a:noFill/>
          <a:ln/>
        </p:spPr>
        <p:txBody>
          <a:bodyPr wrap="square" lIns="0" tIns="0" rIns="0" bIns="0" rtlCol="0" anchor="t"/>
          <a:lstStyle/>
          <a:p>
            <a:pPr marL="0" indent="0" algn="ctr">
              <a:buNone/>
            </a:pPr>
            <a:r>
              <a:rPr lang="en-US" sz="1000" dirty="0">
                <a:solidFill>
                  <a:srgbClr val="6B5B4F"/>
                </a:solidFill>
                <a:latin typeface="Calibri" pitchFamily="34" charset="0"/>
                <a:ea typeface="Calibri" pitchFamily="34" charset="-122"/>
                <a:cs typeface="Calibri" pitchFamily="34" charset="-120"/>
              </a:rPr>
              <a:t>Throughput</a:t>
            </a:r>
            <a:endParaRPr lang="en-US" sz="1000" dirty="0"/>
          </a:p>
          <a:p>
            <a:pPr marL="0" indent="0" algn="ctr">
              <a:buNone/>
            </a:pPr>
            <a:r>
              <a:rPr lang="en-US" sz="1000" dirty="0">
                <a:solidFill>
                  <a:srgbClr val="6B5B4F"/>
                </a:solidFill>
                <a:latin typeface="Calibri" pitchFamily="34" charset="0"/>
                <a:ea typeface="Calibri" pitchFamily="34" charset="-122"/>
                <a:cs typeface="Calibri" pitchFamily="34" charset="-120"/>
              </a:rPr>
              <a:t>(req/s)</a:t>
            </a:r>
            <a:endParaRPr lang="en-US" sz="1000" dirty="0"/>
          </a:p>
        </p:txBody>
      </p:sp>
      <p:sp>
        <p:nvSpPr>
          <p:cNvPr id="16" name="Shape 14"/>
          <p:cNvSpPr/>
          <p:nvPr/>
        </p:nvSpPr>
        <p:spPr>
          <a:xfrm>
            <a:off x="6903720" y="1097280"/>
            <a:ext cx="1920240" cy="1280160"/>
          </a:xfrm>
          <a:prstGeom prst="rect">
            <a:avLst/>
          </a:prstGeom>
          <a:solidFill>
            <a:srgbClr val="FFFFFF"/>
          </a:solidFill>
          <a:ln/>
          <a:effectLst>
            <a:outerShdw blurRad="76200" dist="25400" dir="8100000" algn="bl" rotWithShape="0">
              <a:srgbClr val="000000">
                <a:alpha val="12000"/>
              </a:srgbClr>
            </a:outerShdw>
          </a:effectLst>
        </p:spPr>
      </p:sp>
      <p:sp>
        <p:nvSpPr>
          <p:cNvPr id="17" name="Shape 15"/>
          <p:cNvSpPr/>
          <p:nvPr/>
        </p:nvSpPr>
        <p:spPr>
          <a:xfrm>
            <a:off x="6903720" y="1097280"/>
            <a:ext cx="1920240" cy="54864"/>
          </a:xfrm>
          <a:prstGeom prst="rect">
            <a:avLst/>
          </a:prstGeom>
          <a:solidFill>
            <a:srgbClr val="E53935"/>
          </a:solidFill>
          <a:ln/>
        </p:spPr>
      </p:sp>
      <p:sp>
        <p:nvSpPr>
          <p:cNvPr id="18" name="Text 16"/>
          <p:cNvSpPr/>
          <p:nvPr/>
        </p:nvSpPr>
        <p:spPr>
          <a:xfrm>
            <a:off x="6903720" y="1234440"/>
            <a:ext cx="1920240" cy="594360"/>
          </a:xfrm>
          <a:prstGeom prst="rect">
            <a:avLst/>
          </a:prstGeom>
          <a:noFill/>
          <a:ln/>
        </p:spPr>
        <p:txBody>
          <a:bodyPr wrap="square" lIns="0" tIns="0" rIns="0" bIns="0" rtlCol="0" anchor="ctr"/>
          <a:lstStyle/>
          <a:p>
            <a:pPr marL="0" indent="0" algn="ctr">
              <a:buNone/>
            </a:pPr>
            <a:r>
              <a:rPr lang="en-US" sz="3000" b="1" dirty="0">
                <a:solidFill>
                  <a:srgbClr val="E53935"/>
                </a:solidFill>
                <a:latin typeface="Georgia" pitchFamily="34" charset="0"/>
                <a:ea typeface="Georgia" pitchFamily="34" charset="-122"/>
                <a:cs typeface="Georgia" pitchFamily="34" charset="-120"/>
              </a:rPr>
              <a:t>0.223</a:t>
            </a:r>
            <a:endParaRPr lang="en-US" sz="3000" dirty="0"/>
          </a:p>
        </p:txBody>
      </p:sp>
      <p:sp>
        <p:nvSpPr>
          <p:cNvPr id="19" name="Text 17"/>
          <p:cNvSpPr/>
          <p:nvPr/>
        </p:nvSpPr>
        <p:spPr>
          <a:xfrm>
            <a:off x="6903720" y="1828800"/>
            <a:ext cx="1920240" cy="457200"/>
          </a:xfrm>
          <a:prstGeom prst="rect">
            <a:avLst/>
          </a:prstGeom>
          <a:noFill/>
          <a:ln/>
        </p:spPr>
        <p:txBody>
          <a:bodyPr wrap="square" lIns="0" tIns="0" rIns="0" bIns="0" rtlCol="0" anchor="t"/>
          <a:lstStyle/>
          <a:p>
            <a:pPr marL="0" indent="0" algn="ctr">
              <a:buNone/>
            </a:pPr>
            <a:r>
              <a:rPr lang="en-US" sz="1000" dirty="0">
                <a:solidFill>
                  <a:srgbClr val="6B5B4F"/>
                </a:solidFill>
                <a:latin typeface="Calibri" pitchFamily="34" charset="0"/>
                <a:ea typeface="Calibri" pitchFamily="34" charset="-122"/>
                <a:cs typeface="Calibri" pitchFamily="34" charset="-120"/>
              </a:rPr>
              <a:t>APDEX</a:t>
            </a:r>
            <a:endParaRPr lang="en-US" sz="1000" dirty="0"/>
          </a:p>
          <a:p>
            <a:pPr marL="0" indent="0" algn="ctr">
              <a:buNone/>
            </a:pPr>
            <a:r>
              <a:rPr lang="en-US" sz="1000" dirty="0">
                <a:solidFill>
                  <a:srgbClr val="6B5B4F"/>
                </a:solidFill>
                <a:latin typeface="Calibri" pitchFamily="34" charset="0"/>
                <a:ea typeface="Calibri" pitchFamily="34" charset="-122"/>
                <a:cs typeface="Calibri" pitchFamily="34" charset="-120"/>
              </a:rPr>
              <a:t>General</a:t>
            </a:r>
            <a:endParaRPr lang="en-US" sz="1000" dirty="0"/>
          </a:p>
        </p:txBody>
      </p:sp>
      <p:sp>
        <p:nvSpPr>
          <p:cNvPr id="20" name="Text 18"/>
          <p:cNvSpPr/>
          <p:nvPr/>
        </p:nvSpPr>
        <p:spPr>
          <a:xfrm>
            <a:off x="548640" y="2606040"/>
            <a:ext cx="3657600" cy="365760"/>
          </a:xfrm>
          <a:prstGeom prst="rect">
            <a:avLst/>
          </a:prstGeom>
          <a:noFill/>
          <a:ln/>
        </p:spPr>
        <p:txBody>
          <a:bodyPr wrap="square" lIns="0" tIns="0" rIns="0" bIns="0" rtlCol="0" anchor="ctr"/>
          <a:lstStyle/>
          <a:p>
            <a:pPr marL="0" indent="0">
              <a:buNone/>
            </a:pPr>
            <a:r>
              <a:rPr lang="en-US" sz="1400" b="1" dirty="0">
                <a:solidFill>
                  <a:srgbClr val="2D1B0E"/>
                </a:solidFill>
                <a:latin typeface="Calibri" pitchFamily="34" charset="0"/>
                <a:ea typeface="Calibri" pitchFamily="34" charset="-122"/>
                <a:cs typeface="Calibri" pitchFamily="34" charset="-120"/>
              </a:rPr>
              <a:t>Distribucion de Errores</a:t>
            </a:r>
            <a:endParaRPr lang="en-US" sz="1400" dirty="0"/>
          </a:p>
        </p:txBody>
      </p:sp>
      <p:sp>
        <p:nvSpPr>
          <p:cNvPr id="21" name="Text 19"/>
          <p:cNvSpPr/>
          <p:nvPr/>
        </p:nvSpPr>
        <p:spPr>
          <a:xfrm>
            <a:off x="548640" y="3063240"/>
            <a:ext cx="1645920" cy="365760"/>
          </a:xfrm>
          <a:prstGeom prst="rect">
            <a:avLst/>
          </a:prstGeom>
          <a:noFill/>
          <a:ln/>
        </p:spPr>
        <p:txBody>
          <a:bodyPr wrap="square" lIns="0" tIns="0" rIns="0" bIns="0" rtlCol="0" anchor="ctr"/>
          <a:lstStyle/>
          <a:p>
            <a:pPr marL="0" indent="0">
              <a:buNone/>
            </a:pPr>
            <a:r>
              <a:rPr lang="en-US" sz="1000" dirty="0">
                <a:solidFill>
                  <a:srgbClr val="2D1B0E"/>
                </a:solidFill>
                <a:latin typeface="Calibri" pitchFamily="34" charset="0"/>
                <a:ea typeface="Calibri" pitchFamily="34" charset="-122"/>
                <a:cs typeface="Calibri" pitchFamily="34" charset="-120"/>
              </a:rPr>
              <a:t>HTTP 500</a:t>
            </a:r>
            <a:endParaRPr lang="en-US" sz="1000" dirty="0"/>
          </a:p>
        </p:txBody>
      </p:sp>
      <p:sp>
        <p:nvSpPr>
          <p:cNvPr id="22" name="Shape 20"/>
          <p:cNvSpPr/>
          <p:nvPr/>
        </p:nvSpPr>
        <p:spPr>
          <a:xfrm>
            <a:off x="2286000" y="3108960"/>
            <a:ext cx="4114800" cy="274320"/>
          </a:xfrm>
          <a:prstGeom prst="rect">
            <a:avLst/>
          </a:prstGeom>
          <a:solidFill>
            <a:srgbClr val="E8E4DD"/>
          </a:solidFill>
          <a:ln/>
        </p:spPr>
      </p:sp>
      <p:sp>
        <p:nvSpPr>
          <p:cNvPr id="23" name="Shape 21"/>
          <p:cNvSpPr/>
          <p:nvPr/>
        </p:nvSpPr>
        <p:spPr>
          <a:xfrm>
            <a:off x="2286000" y="3108960"/>
            <a:ext cx="4114800" cy="274320"/>
          </a:xfrm>
          <a:prstGeom prst="rect">
            <a:avLst/>
          </a:prstGeom>
          <a:solidFill>
            <a:srgbClr val="E53935"/>
          </a:solidFill>
          <a:ln/>
        </p:spPr>
      </p:sp>
      <p:sp>
        <p:nvSpPr>
          <p:cNvPr id="24" name="Text 22"/>
          <p:cNvSpPr/>
          <p:nvPr/>
        </p:nvSpPr>
        <p:spPr>
          <a:xfrm>
            <a:off x="6537960" y="3063240"/>
            <a:ext cx="731520" cy="365760"/>
          </a:xfrm>
          <a:prstGeom prst="rect">
            <a:avLst/>
          </a:prstGeom>
          <a:noFill/>
          <a:ln/>
        </p:spPr>
        <p:txBody>
          <a:bodyPr wrap="square" lIns="0" tIns="0" rIns="0" bIns="0" rtlCol="0" anchor="ctr"/>
          <a:lstStyle/>
          <a:p>
            <a:pPr marL="0" indent="0">
              <a:buNone/>
            </a:pPr>
            <a:r>
              <a:rPr lang="en-US" sz="1000" b="1" dirty="0">
                <a:solidFill>
                  <a:srgbClr val="2D1B0E"/>
                </a:solidFill>
                <a:latin typeface="Calibri" pitchFamily="34" charset="0"/>
                <a:ea typeface="Calibri" pitchFamily="34" charset="-122"/>
                <a:cs typeface="Calibri" pitchFamily="34" charset="-120"/>
              </a:rPr>
              <a:t>51.7%</a:t>
            </a:r>
            <a:endParaRPr lang="en-US" sz="1000" dirty="0"/>
          </a:p>
        </p:txBody>
      </p:sp>
      <p:sp>
        <p:nvSpPr>
          <p:cNvPr id="25" name="Text 23"/>
          <p:cNvSpPr/>
          <p:nvPr/>
        </p:nvSpPr>
        <p:spPr>
          <a:xfrm>
            <a:off x="548640" y="3566160"/>
            <a:ext cx="1645920" cy="365760"/>
          </a:xfrm>
          <a:prstGeom prst="rect">
            <a:avLst/>
          </a:prstGeom>
          <a:noFill/>
          <a:ln/>
        </p:spPr>
        <p:txBody>
          <a:bodyPr wrap="square" lIns="0" tIns="0" rIns="0" bIns="0" rtlCol="0" anchor="ctr"/>
          <a:lstStyle/>
          <a:p>
            <a:pPr marL="0" indent="0">
              <a:buNone/>
            </a:pPr>
            <a:r>
              <a:rPr lang="en-US" sz="1000" dirty="0">
                <a:solidFill>
                  <a:srgbClr val="2D1B0E"/>
                </a:solidFill>
                <a:latin typeface="Calibri" pitchFamily="34" charset="0"/>
                <a:ea typeface="Calibri" pitchFamily="34" charset="-122"/>
                <a:cs typeface="Calibri" pitchFamily="34" charset="-120"/>
              </a:rPr>
              <a:t>NoHttpResponse</a:t>
            </a:r>
            <a:endParaRPr lang="en-US" sz="1000" dirty="0"/>
          </a:p>
        </p:txBody>
      </p:sp>
      <p:sp>
        <p:nvSpPr>
          <p:cNvPr id="26" name="Shape 24"/>
          <p:cNvSpPr/>
          <p:nvPr/>
        </p:nvSpPr>
        <p:spPr>
          <a:xfrm>
            <a:off x="2286000" y="3611880"/>
            <a:ext cx="4114800" cy="274320"/>
          </a:xfrm>
          <a:prstGeom prst="rect">
            <a:avLst/>
          </a:prstGeom>
          <a:solidFill>
            <a:srgbClr val="E8E4DD"/>
          </a:solidFill>
          <a:ln/>
        </p:spPr>
      </p:sp>
      <p:sp>
        <p:nvSpPr>
          <p:cNvPr id="27" name="Shape 25"/>
          <p:cNvSpPr/>
          <p:nvPr/>
        </p:nvSpPr>
        <p:spPr>
          <a:xfrm>
            <a:off x="2286000" y="3611880"/>
            <a:ext cx="3077598" cy="274320"/>
          </a:xfrm>
          <a:prstGeom prst="rect">
            <a:avLst/>
          </a:prstGeom>
          <a:solidFill>
            <a:srgbClr val="FB8C00"/>
          </a:solidFill>
          <a:ln/>
        </p:spPr>
      </p:sp>
      <p:sp>
        <p:nvSpPr>
          <p:cNvPr id="28" name="Text 26"/>
          <p:cNvSpPr/>
          <p:nvPr/>
        </p:nvSpPr>
        <p:spPr>
          <a:xfrm>
            <a:off x="5500758" y="3566160"/>
            <a:ext cx="731520" cy="365760"/>
          </a:xfrm>
          <a:prstGeom prst="rect">
            <a:avLst/>
          </a:prstGeom>
          <a:noFill/>
          <a:ln/>
        </p:spPr>
        <p:txBody>
          <a:bodyPr wrap="square" lIns="0" tIns="0" rIns="0" bIns="0" rtlCol="0" anchor="ctr"/>
          <a:lstStyle/>
          <a:p>
            <a:pPr marL="0" indent="0">
              <a:buNone/>
            </a:pPr>
            <a:r>
              <a:rPr lang="en-US" sz="1000" b="1" dirty="0">
                <a:solidFill>
                  <a:srgbClr val="2D1B0E"/>
                </a:solidFill>
                <a:latin typeface="Calibri" pitchFamily="34" charset="0"/>
                <a:ea typeface="Calibri" pitchFamily="34" charset="-122"/>
                <a:cs typeface="Calibri" pitchFamily="34" charset="-120"/>
              </a:rPr>
              <a:t>38.7%</a:t>
            </a:r>
            <a:endParaRPr lang="en-US" sz="1000" dirty="0"/>
          </a:p>
        </p:txBody>
      </p:sp>
      <p:sp>
        <p:nvSpPr>
          <p:cNvPr id="29" name="Text 27"/>
          <p:cNvSpPr/>
          <p:nvPr/>
        </p:nvSpPr>
        <p:spPr>
          <a:xfrm>
            <a:off x="548640" y="4069080"/>
            <a:ext cx="1645920" cy="365760"/>
          </a:xfrm>
          <a:prstGeom prst="rect">
            <a:avLst/>
          </a:prstGeom>
          <a:noFill/>
          <a:ln/>
        </p:spPr>
        <p:txBody>
          <a:bodyPr wrap="square" lIns="0" tIns="0" rIns="0" bIns="0" rtlCol="0" anchor="ctr"/>
          <a:lstStyle/>
          <a:p>
            <a:pPr marL="0" indent="0">
              <a:buNone/>
            </a:pPr>
            <a:r>
              <a:rPr lang="en-US" sz="1000" dirty="0">
                <a:solidFill>
                  <a:srgbClr val="2D1B0E"/>
                </a:solidFill>
                <a:latin typeface="Calibri" pitchFamily="34" charset="0"/>
                <a:ea typeface="Calibri" pitchFamily="34" charset="-122"/>
                <a:cs typeface="Calibri" pitchFamily="34" charset="-120"/>
              </a:rPr>
              <a:t>SSLHandshake</a:t>
            </a:r>
            <a:endParaRPr lang="en-US" sz="1000" dirty="0"/>
          </a:p>
        </p:txBody>
      </p:sp>
      <p:sp>
        <p:nvSpPr>
          <p:cNvPr id="30" name="Shape 28"/>
          <p:cNvSpPr/>
          <p:nvPr/>
        </p:nvSpPr>
        <p:spPr>
          <a:xfrm>
            <a:off x="2286000" y="4114800"/>
            <a:ext cx="4114800" cy="274320"/>
          </a:xfrm>
          <a:prstGeom prst="rect">
            <a:avLst/>
          </a:prstGeom>
          <a:solidFill>
            <a:srgbClr val="E8E4DD"/>
          </a:solidFill>
          <a:ln/>
        </p:spPr>
      </p:sp>
      <p:sp>
        <p:nvSpPr>
          <p:cNvPr id="31" name="Shape 29"/>
          <p:cNvSpPr/>
          <p:nvPr/>
        </p:nvSpPr>
        <p:spPr>
          <a:xfrm>
            <a:off x="2286000" y="4114800"/>
            <a:ext cx="765149" cy="274320"/>
          </a:xfrm>
          <a:prstGeom prst="rect">
            <a:avLst/>
          </a:prstGeom>
          <a:solidFill>
            <a:srgbClr val="FDD835"/>
          </a:solidFill>
          <a:ln/>
        </p:spPr>
      </p:sp>
      <p:sp>
        <p:nvSpPr>
          <p:cNvPr id="32" name="Text 30"/>
          <p:cNvSpPr/>
          <p:nvPr/>
        </p:nvSpPr>
        <p:spPr>
          <a:xfrm>
            <a:off x="3188309" y="4069080"/>
            <a:ext cx="731520" cy="365760"/>
          </a:xfrm>
          <a:prstGeom prst="rect">
            <a:avLst/>
          </a:prstGeom>
          <a:noFill/>
          <a:ln/>
        </p:spPr>
        <p:txBody>
          <a:bodyPr wrap="square" lIns="0" tIns="0" rIns="0" bIns="0" rtlCol="0" anchor="ctr"/>
          <a:lstStyle/>
          <a:p>
            <a:pPr marL="0" indent="0">
              <a:buNone/>
            </a:pPr>
            <a:r>
              <a:rPr lang="en-US" sz="1000" b="1" dirty="0">
                <a:solidFill>
                  <a:srgbClr val="2D1B0E"/>
                </a:solidFill>
                <a:latin typeface="Calibri" pitchFamily="34" charset="0"/>
                <a:ea typeface="Calibri" pitchFamily="34" charset="-122"/>
                <a:cs typeface="Calibri" pitchFamily="34" charset="-120"/>
              </a:rPr>
              <a:t>9.6%</a:t>
            </a:r>
            <a:endParaRPr lang="en-US" sz="1000" dirty="0"/>
          </a:p>
        </p:txBody>
      </p:sp>
      <p:sp>
        <p:nvSpPr>
          <p:cNvPr id="33" name="Text 31"/>
          <p:cNvSpPr/>
          <p:nvPr/>
        </p:nvSpPr>
        <p:spPr>
          <a:xfrm>
            <a:off x="548640" y="4572000"/>
            <a:ext cx="8046720" cy="365760"/>
          </a:xfrm>
          <a:prstGeom prst="rect">
            <a:avLst/>
          </a:prstGeom>
          <a:noFill/>
          <a:ln/>
        </p:spPr>
        <p:txBody>
          <a:bodyPr wrap="square" lIns="0" tIns="0" rIns="0" bIns="0" rtlCol="0" anchor="ctr"/>
          <a:lstStyle/>
          <a:p>
            <a:pPr marL="0" indent="0">
              <a:buNone/>
            </a:pPr>
            <a:r>
              <a:rPr lang="en-US" sz="1100" b="1" i="1" dirty="0">
                <a:solidFill>
                  <a:srgbClr val="E53935"/>
                </a:solidFill>
                <a:latin typeface="Calibri" pitchFamily="34" charset="0"/>
                <a:ea typeface="Calibri" pitchFamily="34" charset="-122"/>
                <a:cs typeface="Calibri" pitchFamily="34" charset="-120"/>
              </a:rPr>
              <a:t>468 de 1,129 solicitudes fallaron. Auth y seleccion de productos son los principales cuellos de botella.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Comparacion de Escenarios</a:t>
            </a:r>
            <a:endParaRPr lang="en-US" sz="2800" dirty="0"/>
          </a:p>
        </p:txBody>
      </p:sp>
      <p:graphicFrame>
        <p:nvGraphicFramePr>
          <p:cNvPr id="4" name="Chart 0"/>
          <p:cNvGraphicFramePr/>
          <p:nvPr/>
        </p:nvGraphicFramePr>
        <p:xfrm>
          <a:off x="457200" y="1097280"/>
          <a:ext cx="82296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48640" y="4434840"/>
            <a:ext cx="8046720" cy="502920"/>
          </a:xfrm>
          <a:prstGeom prst="rect">
            <a:avLst/>
          </a:prstGeom>
          <a:solidFill>
            <a:srgbClr val="FFFFFF"/>
          </a:solidFill>
          <a:ln/>
          <a:effectLst>
            <a:outerShdw blurRad="76200" dist="25400" dir="8100000" algn="bl" rotWithShape="0">
              <a:srgbClr val="000000">
                <a:alpha val="12000"/>
              </a:srgbClr>
            </a:outerShdw>
          </a:effectLst>
        </p:spPr>
      </p:sp>
      <p:sp>
        <p:nvSpPr>
          <p:cNvPr id="6" name="Shape 3"/>
          <p:cNvSpPr/>
          <p:nvPr/>
        </p:nvSpPr>
        <p:spPr>
          <a:xfrm>
            <a:off x="548640" y="4434840"/>
            <a:ext cx="54864" cy="502920"/>
          </a:xfrm>
          <a:prstGeom prst="rect">
            <a:avLst/>
          </a:prstGeom>
          <a:solidFill>
            <a:srgbClr val="B85042"/>
          </a:solidFill>
          <a:ln/>
        </p:spPr>
      </p:sp>
      <p:sp>
        <p:nvSpPr>
          <p:cNvPr id="7" name="Text 4"/>
          <p:cNvSpPr/>
          <p:nvPr/>
        </p:nvSpPr>
        <p:spPr>
          <a:xfrm>
            <a:off x="777240" y="4434840"/>
            <a:ext cx="7589520" cy="502920"/>
          </a:xfrm>
          <a:prstGeom prst="rect">
            <a:avLst/>
          </a:prstGeom>
          <a:noFill/>
          <a:ln/>
        </p:spPr>
        <p:txBody>
          <a:bodyPr wrap="square" lIns="0" tIns="0" rIns="0" bIns="0" rtlCol="0" anchor="ctr"/>
          <a:lstStyle/>
          <a:p>
            <a:pPr marL="0" indent="0">
              <a:buNone/>
            </a:pPr>
            <a:r>
              <a:rPr lang="en-US" sz="1200" dirty="0">
                <a:solidFill>
                  <a:srgbClr val="2D1B0E"/>
                </a:solidFill>
                <a:latin typeface="Calibri" pitchFamily="34" charset="0"/>
                <a:ea typeface="Calibri" pitchFamily="34" charset="-122"/>
                <a:cs typeface="Calibri" pitchFamily="34" charset="-120"/>
              </a:rPr>
              <a:t>El catalogo soporta 1,000 usuarios sin errores. El flujo de pago se degrada significativamente a 500 usuarios.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Hallazgos Principales</a:t>
            </a:r>
            <a:endParaRPr lang="en-US" sz="2800" dirty="0"/>
          </a:p>
        </p:txBody>
      </p:sp>
      <p:sp>
        <p:nvSpPr>
          <p:cNvPr id="4" name="Shape 2"/>
          <p:cNvSpPr/>
          <p:nvPr/>
        </p:nvSpPr>
        <p:spPr>
          <a:xfrm>
            <a:off x="457200" y="1097280"/>
            <a:ext cx="3931920" cy="3474720"/>
          </a:xfrm>
          <a:prstGeom prst="rect">
            <a:avLst/>
          </a:prstGeom>
          <a:solidFill>
            <a:srgbClr val="FFFFFF"/>
          </a:solidFill>
          <a:ln/>
          <a:effectLst>
            <a:outerShdw blurRad="76200" dist="25400" dir="8100000" algn="bl" rotWithShape="0">
              <a:srgbClr val="000000">
                <a:alpha val="12000"/>
              </a:srgbClr>
            </a:outerShdw>
          </a:effectLst>
        </p:spPr>
      </p:sp>
      <p:sp>
        <p:nvSpPr>
          <p:cNvPr id="5" name="Shape 3"/>
          <p:cNvSpPr/>
          <p:nvPr/>
        </p:nvSpPr>
        <p:spPr>
          <a:xfrm>
            <a:off x="457200" y="1097280"/>
            <a:ext cx="3931920" cy="457200"/>
          </a:xfrm>
          <a:prstGeom prst="rect">
            <a:avLst/>
          </a:prstGeom>
          <a:solidFill>
            <a:srgbClr val="4CAF50"/>
          </a:solidFill>
          <a:ln/>
        </p:spPr>
      </p:sp>
      <p:sp>
        <p:nvSpPr>
          <p:cNvPr id="6" name="Text 4"/>
          <p:cNvSpPr/>
          <p:nvPr/>
        </p:nvSpPr>
        <p:spPr>
          <a:xfrm>
            <a:off x="457200" y="1097280"/>
            <a:ext cx="393192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Fortalezas</a:t>
            </a:r>
            <a:endParaRPr lang="en-US" sz="1600" dirty="0"/>
          </a:p>
        </p:txBody>
      </p:sp>
      <p:pic>
        <p:nvPicPr>
          <p:cNvPr id="7" name="Image 0" descr="preencoded.png"/>
          <p:cNvPicPr>
            <a:picLocks noChangeAspect="1"/>
          </p:cNvPicPr>
          <p:nvPr/>
        </p:nvPicPr>
        <p:blipFill>
          <a:blip r:embed="rId3"/>
          <a:stretch>
            <a:fillRect/>
          </a:stretch>
        </p:blipFill>
        <p:spPr>
          <a:xfrm>
            <a:off x="685800" y="1737360"/>
            <a:ext cx="274320" cy="274320"/>
          </a:xfrm>
          <a:prstGeom prst="rect">
            <a:avLst/>
          </a:prstGeom>
        </p:spPr>
      </p:pic>
      <p:sp>
        <p:nvSpPr>
          <p:cNvPr id="8" name="Text 5"/>
          <p:cNvSpPr/>
          <p:nvPr/>
        </p:nvSpPr>
        <p:spPr>
          <a:xfrm>
            <a:off x="1097280" y="1691640"/>
            <a:ext cx="3017520" cy="594360"/>
          </a:xfrm>
          <a:prstGeom prst="rect">
            <a:avLst/>
          </a:prstGeom>
          <a:noFill/>
          <a:ln/>
        </p:spPr>
        <p:txBody>
          <a:bodyPr wrap="square" lIns="0" tIns="0" rIns="0" bIns="0" rtlCol="0" anchor="ctr"/>
          <a:lstStyle/>
          <a:p>
            <a:pPr marL="0" indent="0">
              <a:buNone/>
            </a:pPr>
            <a:r>
              <a:rPr lang="en-US" sz="1100" dirty="0">
                <a:solidFill>
                  <a:srgbClr val="2D1B0E"/>
                </a:solidFill>
                <a:latin typeface="Calibri" pitchFamily="34" charset="0"/>
                <a:ea typeface="Calibri" pitchFamily="34" charset="-122"/>
                <a:cs typeface="Calibri" pitchFamily="34" charset="-120"/>
              </a:rPr>
              <a:t>Catalogo soporta 1,000 usuarios concurrentes</a:t>
            </a:r>
            <a:endParaRPr lang="en-US" sz="1100" dirty="0"/>
          </a:p>
        </p:txBody>
      </p:sp>
      <p:pic>
        <p:nvPicPr>
          <p:cNvPr id="9" name="Image 1" descr="preencoded.png"/>
          <p:cNvPicPr>
            <a:picLocks noChangeAspect="1"/>
          </p:cNvPicPr>
          <p:nvPr/>
        </p:nvPicPr>
        <p:blipFill>
          <a:blip r:embed="rId3"/>
          <a:stretch>
            <a:fillRect/>
          </a:stretch>
        </p:blipFill>
        <p:spPr>
          <a:xfrm>
            <a:off x="685800" y="2423160"/>
            <a:ext cx="274320" cy="274320"/>
          </a:xfrm>
          <a:prstGeom prst="rect">
            <a:avLst/>
          </a:prstGeom>
        </p:spPr>
      </p:pic>
      <p:sp>
        <p:nvSpPr>
          <p:cNvPr id="10" name="Text 6"/>
          <p:cNvSpPr/>
          <p:nvPr/>
        </p:nvSpPr>
        <p:spPr>
          <a:xfrm>
            <a:off x="1097280" y="2377440"/>
            <a:ext cx="3017520" cy="594360"/>
          </a:xfrm>
          <a:prstGeom prst="rect">
            <a:avLst/>
          </a:prstGeom>
          <a:noFill/>
          <a:ln/>
        </p:spPr>
        <p:txBody>
          <a:bodyPr wrap="square" lIns="0" tIns="0" rIns="0" bIns="0" rtlCol="0" anchor="ctr"/>
          <a:lstStyle/>
          <a:p>
            <a:pPr marL="0" indent="0">
              <a:buNone/>
            </a:pPr>
            <a:r>
              <a:rPr lang="en-US" sz="1100" dirty="0">
                <a:solidFill>
                  <a:srgbClr val="2D1B0E"/>
                </a:solidFill>
                <a:latin typeface="Calibri" pitchFamily="34" charset="0"/>
                <a:ea typeface="Calibri" pitchFamily="34" charset="-122"/>
                <a:cs typeface="Calibri" pitchFamily="34" charset="-120"/>
              </a:rPr>
              <a:t>Creacion de ordenes &lt; 250 ms</a:t>
            </a:r>
            <a:endParaRPr lang="en-US" sz="1100" dirty="0"/>
          </a:p>
        </p:txBody>
      </p:sp>
      <p:pic>
        <p:nvPicPr>
          <p:cNvPr id="11" name="Image 2" descr="preencoded.png"/>
          <p:cNvPicPr>
            <a:picLocks noChangeAspect="1"/>
          </p:cNvPicPr>
          <p:nvPr/>
        </p:nvPicPr>
        <p:blipFill>
          <a:blip r:embed="rId3"/>
          <a:stretch>
            <a:fillRect/>
          </a:stretch>
        </p:blipFill>
        <p:spPr>
          <a:xfrm>
            <a:off x="685800" y="3108960"/>
            <a:ext cx="274320" cy="274320"/>
          </a:xfrm>
          <a:prstGeom prst="rect">
            <a:avLst/>
          </a:prstGeom>
        </p:spPr>
      </p:pic>
      <p:sp>
        <p:nvSpPr>
          <p:cNvPr id="12" name="Text 7"/>
          <p:cNvSpPr/>
          <p:nvPr/>
        </p:nvSpPr>
        <p:spPr>
          <a:xfrm>
            <a:off x="1097280" y="3063240"/>
            <a:ext cx="3017520" cy="594360"/>
          </a:xfrm>
          <a:prstGeom prst="rect">
            <a:avLst/>
          </a:prstGeom>
          <a:noFill/>
          <a:ln/>
        </p:spPr>
        <p:txBody>
          <a:bodyPr wrap="square" lIns="0" tIns="0" rIns="0" bIns="0" rtlCol="0" anchor="ctr"/>
          <a:lstStyle/>
          <a:p>
            <a:pPr marL="0" indent="0">
              <a:buNone/>
            </a:pPr>
            <a:r>
              <a:rPr lang="en-US" sz="1100" dirty="0">
                <a:solidFill>
                  <a:srgbClr val="2D1B0E"/>
                </a:solidFill>
                <a:latin typeface="Calibri" pitchFamily="34" charset="0"/>
                <a:ea typeface="Calibri" pitchFamily="34" charset="-122"/>
                <a:cs typeface="Calibri" pitchFamily="34" charset="-120"/>
              </a:rPr>
              <a:t>Autorizacion de pagos 100% exitosa</a:t>
            </a:r>
            <a:endParaRPr lang="en-US" sz="1100" dirty="0"/>
          </a:p>
        </p:txBody>
      </p:sp>
      <p:pic>
        <p:nvPicPr>
          <p:cNvPr id="13" name="Image 3" descr="preencoded.png"/>
          <p:cNvPicPr>
            <a:picLocks noChangeAspect="1"/>
          </p:cNvPicPr>
          <p:nvPr/>
        </p:nvPicPr>
        <p:blipFill>
          <a:blip r:embed="rId3"/>
          <a:stretch>
            <a:fillRect/>
          </a:stretch>
        </p:blipFill>
        <p:spPr>
          <a:xfrm>
            <a:off x="685800" y="3794760"/>
            <a:ext cx="274320" cy="274320"/>
          </a:xfrm>
          <a:prstGeom prst="rect">
            <a:avLst/>
          </a:prstGeom>
        </p:spPr>
      </p:pic>
      <p:sp>
        <p:nvSpPr>
          <p:cNvPr id="14" name="Text 8"/>
          <p:cNvSpPr/>
          <p:nvPr/>
        </p:nvSpPr>
        <p:spPr>
          <a:xfrm>
            <a:off x="1097280" y="3749040"/>
            <a:ext cx="3017520" cy="594360"/>
          </a:xfrm>
          <a:prstGeom prst="rect">
            <a:avLst/>
          </a:prstGeom>
          <a:noFill/>
          <a:ln/>
        </p:spPr>
        <p:txBody>
          <a:bodyPr wrap="square" lIns="0" tIns="0" rIns="0" bIns="0" rtlCol="0" anchor="ctr"/>
          <a:lstStyle/>
          <a:p>
            <a:pPr marL="0" indent="0">
              <a:buNone/>
            </a:pPr>
            <a:r>
              <a:rPr lang="en-US" sz="1100" dirty="0">
                <a:solidFill>
                  <a:srgbClr val="2D1B0E"/>
                </a:solidFill>
                <a:latin typeface="Calibri" pitchFamily="34" charset="0"/>
                <a:ea typeface="Calibri" pitchFamily="34" charset="-122"/>
                <a:cs typeface="Calibri" pitchFamily="34" charset="-120"/>
              </a:rPr>
              <a:t>Vaciado de carrito correcto bajo carga</a:t>
            </a:r>
            <a:endParaRPr lang="en-US" sz="1100" dirty="0"/>
          </a:p>
        </p:txBody>
      </p:sp>
      <p:sp>
        <p:nvSpPr>
          <p:cNvPr id="15" name="Shape 9"/>
          <p:cNvSpPr/>
          <p:nvPr/>
        </p:nvSpPr>
        <p:spPr>
          <a:xfrm>
            <a:off x="4754880" y="1097280"/>
            <a:ext cx="3931920" cy="3474720"/>
          </a:xfrm>
          <a:prstGeom prst="rect">
            <a:avLst/>
          </a:prstGeom>
          <a:solidFill>
            <a:srgbClr val="FFFFFF"/>
          </a:solidFill>
          <a:ln/>
          <a:effectLst>
            <a:outerShdw blurRad="76200" dist="25400" dir="8100000" algn="bl" rotWithShape="0">
              <a:srgbClr val="000000">
                <a:alpha val="12000"/>
              </a:srgbClr>
            </a:outerShdw>
          </a:effectLst>
        </p:spPr>
      </p:sp>
      <p:sp>
        <p:nvSpPr>
          <p:cNvPr id="16" name="Shape 10"/>
          <p:cNvSpPr/>
          <p:nvPr/>
        </p:nvSpPr>
        <p:spPr>
          <a:xfrm>
            <a:off x="4754880" y="1097280"/>
            <a:ext cx="3931920" cy="457200"/>
          </a:xfrm>
          <a:prstGeom prst="rect">
            <a:avLst/>
          </a:prstGeom>
          <a:solidFill>
            <a:srgbClr val="E53935"/>
          </a:solidFill>
          <a:ln/>
        </p:spPr>
      </p:sp>
      <p:sp>
        <p:nvSpPr>
          <p:cNvPr id="17" name="Text 11"/>
          <p:cNvSpPr/>
          <p:nvPr/>
        </p:nvSpPr>
        <p:spPr>
          <a:xfrm>
            <a:off x="4754880" y="1097280"/>
            <a:ext cx="393192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Debilidades</a:t>
            </a:r>
            <a:endParaRPr lang="en-US" sz="1600" dirty="0"/>
          </a:p>
        </p:txBody>
      </p:sp>
      <p:pic>
        <p:nvPicPr>
          <p:cNvPr id="18" name="Image 4" descr="preencoded.png"/>
          <p:cNvPicPr>
            <a:picLocks noChangeAspect="1"/>
          </p:cNvPicPr>
          <p:nvPr/>
        </p:nvPicPr>
        <p:blipFill>
          <a:blip r:embed="rId4"/>
          <a:stretch>
            <a:fillRect/>
          </a:stretch>
        </p:blipFill>
        <p:spPr>
          <a:xfrm>
            <a:off x="4983480" y="1737360"/>
            <a:ext cx="274320" cy="274320"/>
          </a:xfrm>
          <a:prstGeom prst="rect">
            <a:avLst/>
          </a:prstGeom>
        </p:spPr>
      </p:pic>
      <p:sp>
        <p:nvSpPr>
          <p:cNvPr id="19" name="Text 12"/>
          <p:cNvSpPr/>
          <p:nvPr/>
        </p:nvSpPr>
        <p:spPr>
          <a:xfrm>
            <a:off x="5394960" y="1691640"/>
            <a:ext cx="3017520" cy="594360"/>
          </a:xfrm>
          <a:prstGeom prst="rect">
            <a:avLst/>
          </a:prstGeom>
          <a:noFill/>
          <a:ln/>
        </p:spPr>
        <p:txBody>
          <a:bodyPr wrap="square" lIns="0" tIns="0" rIns="0" bIns="0" rtlCol="0" anchor="ctr"/>
          <a:lstStyle/>
          <a:p>
            <a:pPr marL="0" indent="0">
              <a:buNone/>
            </a:pPr>
            <a:r>
              <a:rPr lang="en-US" sz="1100" dirty="0">
                <a:solidFill>
                  <a:srgbClr val="2D1B0E"/>
                </a:solidFill>
                <a:latin typeface="Calibri" pitchFamily="34" charset="0"/>
                <a:ea typeface="Calibri" pitchFamily="34" charset="-122"/>
                <a:cs typeface="Calibri" pitchFamily="34" charset="-120"/>
              </a:rPr>
              <a:t>Auth es el principal cuello de botella</a:t>
            </a:r>
            <a:endParaRPr lang="en-US" sz="1100" dirty="0"/>
          </a:p>
        </p:txBody>
      </p:sp>
      <p:pic>
        <p:nvPicPr>
          <p:cNvPr id="20" name="Image 5" descr="preencoded.png"/>
          <p:cNvPicPr>
            <a:picLocks noChangeAspect="1"/>
          </p:cNvPicPr>
          <p:nvPr/>
        </p:nvPicPr>
        <p:blipFill>
          <a:blip r:embed="rId4"/>
          <a:stretch>
            <a:fillRect/>
          </a:stretch>
        </p:blipFill>
        <p:spPr>
          <a:xfrm>
            <a:off x="4983480" y="2423160"/>
            <a:ext cx="274320" cy="274320"/>
          </a:xfrm>
          <a:prstGeom prst="rect">
            <a:avLst/>
          </a:prstGeom>
        </p:spPr>
      </p:pic>
      <p:sp>
        <p:nvSpPr>
          <p:cNvPr id="21" name="Text 13"/>
          <p:cNvSpPr/>
          <p:nvPr/>
        </p:nvSpPr>
        <p:spPr>
          <a:xfrm>
            <a:off x="5394960" y="2377440"/>
            <a:ext cx="3017520" cy="594360"/>
          </a:xfrm>
          <a:prstGeom prst="rect">
            <a:avLst/>
          </a:prstGeom>
          <a:noFill/>
          <a:ln/>
        </p:spPr>
        <p:txBody>
          <a:bodyPr wrap="square" lIns="0" tIns="0" rIns="0" bIns="0" rtlCol="0" anchor="ctr"/>
          <a:lstStyle/>
          <a:p>
            <a:pPr marL="0" indent="0">
              <a:buNone/>
            </a:pPr>
            <a:r>
              <a:rPr lang="en-US" sz="1100" dirty="0">
                <a:solidFill>
                  <a:srgbClr val="2D1B0E"/>
                </a:solidFill>
                <a:latin typeface="Calibri" pitchFamily="34" charset="0"/>
                <a:ea typeface="Calibri" pitchFamily="34" charset="-122"/>
                <a:cs typeface="Calibri" pitchFamily="34" charset="-120"/>
              </a:rPr>
              <a:t>Errores HTTP 500 en seleccion de productos</a:t>
            </a:r>
            <a:endParaRPr lang="en-US" sz="1100" dirty="0"/>
          </a:p>
        </p:txBody>
      </p:sp>
      <p:pic>
        <p:nvPicPr>
          <p:cNvPr id="22" name="Image 6" descr="preencoded.png"/>
          <p:cNvPicPr>
            <a:picLocks noChangeAspect="1"/>
          </p:cNvPicPr>
          <p:nvPr/>
        </p:nvPicPr>
        <p:blipFill>
          <a:blip r:embed="rId4"/>
          <a:stretch>
            <a:fillRect/>
          </a:stretch>
        </p:blipFill>
        <p:spPr>
          <a:xfrm>
            <a:off x="4983480" y="3108960"/>
            <a:ext cx="274320" cy="274320"/>
          </a:xfrm>
          <a:prstGeom prst="rect">
            <a:avLst/>
          </a:prstGeom>
        </p:spPr>
      </p:pic>
      <p:sp>
        <p:nvSpPr>
          <p:cNvPr id="23" name="Text 14"/>
          <p:cNvSpPr/>
          <p:nvPr/>
        </p:nvSpPr>
        <p:spPr>
          <a:xfrm>
            <a:off x="5394960" y="3063240"/>
            <a:ext cx="3017520" cy="594360"/>
          </a:xfrm>
          <a:prstGeom prst="rect">
            <a:avLst/>
          </a:prstGeom>
          <a:noFill/>
          <a:ln/>
        </p:spPr>
        <p:txBody>
          <a:bodyPr wrap="square" lIns="0" tIns="0" rIns="0" bIns="0" rtlCol="0" anchor="ctr"/>
          <a:lstStyle/>
          <a:p>
            <a:pPr marL="0" indent="0">
              <a:buNone/>
            </a:pPr>
            <a:r>
              <a:rPr lang="en-US" sz="1100" dirty="0">
                <a:solidFill>
                  <a:srgbClr val="2D1B0E"/>
                </a:solidFill>
                <a:latin typeface="Calibri" pitchFamily="34" charset="0"/>
                <a:ea typeface="Calibri" pitchFamily="34" charset="-122"/>
                <a:cs typeface="Calibri" pitchFamily="34" charset="-120"/>
              </a:rPr>
              <a:t>Fallos de conexion HTTPS bajo carga</a:t>
            </a:r>
            <a:endParaRPr lang="en-US" sz="1100" dirty="0"/>
          </a:p>
        </p:txBody>
      </p:sp>
      <p:pic>
        <p:nvPicPr>
          <p:cNvPr id="24" name="Image 7" descr="preencoded.png"/>
          <p:cNvPicPr>
            <a:picLocks noChangeAspect="1"/>
          </p:cNvPicPr>
          <p:nvPr/>
        </p:nvPicPr>
        <p:blipFill>
          <a:blip r:embed="rId4"/>
          <a:stretch>
            <a:fillRect/>
          </a:stretch>
        </p:blipFill>
        <p:spPr>
          <a:xfrm>
            <a:off x="4983480" y="3794760"/>
            <a:ext cx="274320" cy="274320"/>
          </a:xfrm>
          <a:prstGeom prst="rect">
            <a:avLst/>
          </a:prstGeom>
        </p:spPr>
      </p:pic>
      <p:sp>
        <p:nvSpPr>
          <p:cNvPr id="25" name="Text 15"/>
          <p:cNvSpPr/>
          <p:nvPr/>
        </p:nvSpPr>
        <p:spPr>
          <a:xfrm>
            <a:off x="5394960" y="3749040"/>
            <a:ext cx="3017520" cy="594360"/>
          </a:xfrm>
          <a:prstGeom prst="rect">
            <a:avLst/>
          </a:prstGeom>
          <a:noFill/>
          <a:ln/>
        </p:spPr>
        <p:txBody>
          <a:bodyPr wrap="square" lIns="0" tIns="0" rIns="0" bIns="0" rtlCol="0" anchor="ctr"/>
          <a:lstStyle/>
          <a:p>
            <a:pPr marL="0" indent="0">
              <a:buNone/>
            </a:pPr>
            <a:r>
              <a:rPr lang="en-US" sz="1100" dirty="0">
                <a:solidFill>
                  <a:srgbClr val="2D1B0E"/>
                </a:solidFill>
                <a:latin typeface="Calibri" pitchFamily="34" charset="0"/>
                <a:ea typeface="Calibri" pitchFamily="34" charset="-122"/>
                <a:cs typeface="Calibri" pitchFamily="34" charset="-120"/>
              </a:rPr>
              <a:t>Consultas post-pago &gt; 7 segundos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D1B0E"/>
          </a:solidFill>
          <a:ln/>
        </p:spPr>
      </p:sp>
      <p:sp>
        <p:nvSpPr>
          <p:cNvPr id="3" name="Text 1"/>
          <p:cNvSpPr/>
          <p:nvPr/>
        </p:nvSpPr>
        <p:spPr>
          <a:xfrm>
            <a:off x="731520" y="13716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Recomendaciones</a:t>
            </a:r>
            <a:endParaRPr lang="en-US" sz="2800" dirty="0"/>
          </a:p>
        </p:txBody>
      </p:sp>
      <p:sp>
        <p:nvSpPr>
          <p:cNvPr id="4" name="Shape 2"/>
          <p:cNvSpPr/>
          <p:nvPr/>
        </p:nvSpPr>
        <p:spPr>
          <a:xfrm>
            <a:off x="457200" y="1097280"/>
            <a:ext cx="2606040" cy="3474720"/>
          </a:xfrm>
          <a:prstGeom prst="rect">
            <a:avLst/>
          </a:prstGeom>
          <a:solidFill>
            <a:srgbClr val="FFFFFF"/>
          </a:solidFill>
          <a:ln/>
          <a:effectLst>
            <a:outerShdw blurRad="76200" dist="25400" dir="8100000" algn="bl" rotWithShape="0">
              <a:srgbClr val="000000">
                <a:alpha val="12000"/>
              </a:srgbClr>
            </a:outerShdw>
          </a:effectLst>
        </p:spPr>
      </p:sp>
      <p:sp>
        <p:nvSpPr>
          <p:cNvPr id="5" name="Shape 3"/>
          <p:cNvSpPr/>
          <p:nvPr/>
        </p:nvSpPr>
        <p:spPr>
          <a:xfrm>
            <a:off x="457200" y="1097280"/>
            <a:ext cx="2606040" cy="502920"/>
          </a:xfrm>
          <a:prstGeom prst="rect">
            <a:avLst/>
          </a:prstGeom>
          <a:solidFill>
            <a:srgbClr val="B85042"/>
          </a:solidFill>
          <a:ln/>
        </p:spPr>
      </p:sp>
      <p:sp>
        <p:nvSpPr>
          <p:cNvPr id="6" name="Text 4"/>
          <p:cNvSpPr/>
          <p:nvPr/>
        </p:nvSpPr>
        <p:spPr>
          <a:xfrm>
            <a:off x="457200" y="1097280"/>
            <a:ext cx="26060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Corto Plazo</a:t>
            </a:r>
            <a:endParaRPr lang="en-US" sz="1500" dirty="0"/>
          </a:p>
        </p:txBody>
      </p:sp>
      <p:pic>
        <p:nvPicPr>
          <p:cNvPr id="7" name="Image 0" descr="preencoded.png"/>
          <p:cNvPicPr>
            <a:picLocks noChangeAspect="1"/>
          </p:cNvPicPr>
          <p:nvPr/>
        </p:nvPicPr>
        <p:blipFill>
          <a:blip r:embed="rId3"/>
          <a:stretch>
            <a:fillRect/>
          </a:stretch>
        </p:blipFill>
        <p:spPr>
          <a:xfrm>
            <a:off x="594360" y="1874520"/>
            <a:ext cx="201168" cy="201168"/>
          </a:xfrm>
          <a:prstGeom prst="rect">
            <a:avLst/>
          </a:prstGeom>
        </p:spPr>
      </p:pic>
      <p:sp>
        <p:nvSpPr>
          <p:cNvPr id="8" name="Text 5"/>
          <p:cNvSpPr/>
          <p:nvPr/>
        </p:nvSpPr>
        <p:spPr>
          <a:xfrm>
            <a:off x="868680" y="1783080"/>
            <a:ext cx="2011680" cy="594360"/>
          </a:xfrm>
          <a:prstGeom prst="rect">
            <a:avLst/>
          </a:prstGeom>
          <a:noFill/>
          <a:ln/>
        </p:spPr>
        <p:txBody>
          <a:bodyPr wrap="square" lIns="0" tIns="0" rIns="0" bIns="0" rtlCol="0" anchor="t"/>
          <a:lstStyle/>
          <a:p>
            <a:pPr marL="0" indent="0">
              <a:buNone/>
            </a:pPr>
            <a:r>
              <a:rPr lang="en-US" sz="1100" dirty="0">
                <a:solidFill>
                  <a:srgbClr val="2D1B0E"/>
                </a:solidFill>
                <a:latin typeface="Calibri" pitchFamily="34" charset="0"/>
                <a:ea typeface="Calibri" pitchFamily="34" charset="-122"/>
                <a:cs typeface="Calibri" pitchFamily="34" charset="-120"/>
              </a:rPr>
              <a:t>Optimizar servicio de autenticacion</a:t>
            </a:r>
            <a:endParaRPr lang="en-US" sz="1100" dirty="0"/>
          </a:p>
        </p:txBody>
      </p:sp>
      <p:pic>
        <p:nvPicPr>
          <p:cNvPr id="9" name="Image 1" descr="preencoded.png"/>
          <p:cNvPicPr>
            <a:picLocks noChangeAspect="1"/>
          </p:cNvPicPr>
          <p:nvPr/>
        </p:nvPicPr>
        <p:blipFill>
          <a:blip r:embed="rId3"/>
          <a:stretch>
            <a:fillRect/>
          </a:stretch>
        </p:blipFill>
        <p:spPr>
          <a:xfrm>
            <a:off x="594360" y="2532888"/>
            <a:ext cx="201168" cy="201168"/>
          </a:xfrm>
          <a:prstGeom prst="rect">
            <a:avLst/>
          </a:prstGeom>
        </p:spPr>
      </p:pic>
      <p:sp>
        <p:nvSpPr>
          <p:cNvPr id="10" name="Text 6"/>
          <p:cNvSpPr/>
          <p:nvPr/>
        </p:nvSpPr>
        <p:spPr>
          <a:xfrm>
            <a:off x="868680" y="2441448"/>
            <a:ext cx="2011680" cy="594360"/>
          </a:xfrm>
          <a:prstGeom prst="rect">
            <a:avLst/>
          </a:prstGeom>
          <a:noFill/>
          <a:ln/>
        </p:spPr>
        <p:txBody>
          <a:bodyPr wrap="square" lIns="0" tIns="0" rIns="0" bIns="0" rtlCol="0" anchor="t"/>
          <a:lstStyle/>
          <a:p>
            <a:pPr marL="0" indent="0">
              <a:buNone/>
            </a:pPr>
            <a:r>
              <a:rPr lang="en-US" sz="1100" dirty="0">
                <a:solidFill>
                  <a:srgbClr val="2D1B0E"/>
                </a:solidFill>
                <a:latin typeface="Calibri" pitchFamily="34" charset="0"/>
                <a:ea typeface="Calibri" pitchFamily="34" charset="-122"/>
                <a:cs typeface="Calibri" pitchFamily="34" charset="-120"/>
              </a:rPr>
              <a:t>Revisar gestion de sesiones concurrentes</a:t>
            </a:r>
            <a:endParaRPr lang="en-US" sz="1100" dirty="0"/>
          </a:p>
        </p:txBody>
      </p:sp>
      <p:pic>
        <p:nvPicPr>
          <p:cNvPr id="11" name="Image 2" descr="preencoded.png"/>
          <p:cNvPicPr>
            <a:picLocks noChangeAspect="1"/>
          </p:cNvPicPr>
          <p:nvPr/>
        </p:nvPicPr>
        <p:blipFill>
          <a:blip r:embed="rId3"/>
          <a:stretch>
            <a:fillRect/>
          </a:stretch>
        </p:blipFill>
        <p:spPr>
          <a:xfrm>
            <a:off x="594360" y="3191256"/>
            <a:ext cx="201168" cy="201168"/>
          </a:xfrm>
          <a:prstGeom prst="rect">
            <a:avLst/>
          </a:prstGeom>
        </p:spPr>
      </p:pic>
      <p:sp>
        <p:nvSpPr>
          <p:cNvPr id="12" name="Text 7"/>
          <p:cNvSpPr/>
          <p:nvPr/>
        </p:nvSpPr>
        <p:spPr>
          <a:xfrm>
            <a:off x="868680" y="3099816"/>
            <a:ext cx="2011680" cy="594360"/>
          </a:xfrm>
          <a:prstGeom prst="rect">
            <a:avLst/>
          </a:prstGeom>
          <a:noFill/>
          <a:ln/>
        </p:spPr>
        <p:txBody>
          <a:bodyPr wrap="square" lIns="0" tIns="0" rIns="0" bIns="0" rtlCol="0" anchor="t"/>
          <a:lstStyle/>
          <a:p>
            <a:pPr marL="0" indent="0">
              <a:buNone/>
            </a:pPr>
            <a:r>
              <a:rPr lang="en-US" sz="1100" dirty="0">
                <a:solidFill>
                  <a:srgbClr val="2D1B0E"/>
                </a:solidFill>
                <a:latin typeface="Calibri" pitchFamily="34" charset="0"/>
                <a:ea typeface="Calibri" pitchFamily="34" charset="-122"/>
                <a:cs typeface="Calibri" pitchFamily="34" charset="-120"/>
              </a:rPr>
              <a:t>Ajustar timeouts del backend</a:t>
            </a:r>
            <a:endParaRPr lang="en-US" sz="1100" dirty="0"/>
          </a:p>
        </p:txBody>
      </p:sp>
      <p:pic>
        <p:nvPicPr>
          <p:cNvPr id="13" name="Image 3" descr="preencoded.png"/>
          <p:cNvPicPr>
            <a:picLocks noChangeAspect="1"/>
          </p:cNvPicPr>
          <p:nvPr/>
        </p:nvPicPr>
        <p:blipFill>
          <a:blip r:embed="rId3"/>
          <a:stretch>
            <a:fillRect/>
          </a:stretch>
        </p:blipFill>
        <p:spPr>
          <a:xfrm>
            <a:off x="594360" y="3849624"/>
            <a:ext cx="201168" cy="201168"/>
          </a:xfrm>
          <a:prstGeom prst="rect">
            <a:avLst/>
          </a:prstGeom>
        </p:spPr>
      </p:pic>
      <p:sp>
        <p:nvSpPr>
          <p:cNvPr id="14" name="Text 8"/>
          <p:cNvSpPr/>
          <p:nvPr/>
        </p:nvSpPr>
        <p:spPr>
          <a:xfrm>
            <a:off x="868680" y="3758184"/>
            <a:ext cx="2011680" cy="594360"/>
          </a:xfrm>
          <a:prstGeom prst="rect">
            <a:avLst/>
          </a:prstGeom>
          <a:noFill/>
          <a:ln/>
        </p:spPr>
        <p:txBody>
          <a:bodyPr wrap="square" lIns="0" tIns="0" rIns="0" bIns="0" rtlCol="0" anchor="t"/>
          <a:lstStyle/>
          <a:p>
            <a:pPr marL="0" indent="0">
              <a:buNone/>
            </a:pPr>
            <a:r>
              <a:rPr lang="en-US" sz="1100" dirty="0">
                <a:solidFill>
                  <a:srgbClr val="2D1B0E"/>
                </a:solidFill>
                <a:latin typeface="Calibri" pitchFamily="34" charset="0"/>
                <a:ea typeface="Calibri" pitchFamily="34" charset="-122"/>
                <a:cs typeface="Calibri" pitchFamily="34" charset="-120"/>
              </a:rPr>
              <a:t>Analizar errores HTTP 500 en catalogo</a:t>
            </a:r>
            <a:endParaRPr lang="en-US" sz="1100" dirty="0"/>
          </a:p>
        </p:txBody>
      </p:sp>
      <p:sp>
        <p:nvSpPr>
          <p:cNvPr id="15" name="Shape 9"/>
          <p:cNvSpPr/>
          <p:nvPr/>
        </p:nvSpPr>
        <p:spPr>
          <a:xfrm>
            <a:off x="3291840" y="1097280"/>
            <a:ext cx="2606040" cy="3474720"/>
          </a:xfrm>
          <a:prstGeom prst="rect">
            <a:avLst/>
          </a:prstGeom>
          <a:solidFill>
            <a:srgbClr val="FFFFFF"/>
          </a:solidFill>
          <a:ln/>
          <a:effectLst>
            <a:outerShdw blurRad="76200" dist="25400" dir="8100000" algn="bl" rotWithShape="0">
              <a:srgbClr val="000000">
                <a:alpha val="12000"/>
              </a:srgbClr>
            </a:outerShdw>
          </a:effectLst>
        </p:spPr>
      </p:sp>
      <p:sp>
        <p:nvSpPr>
          <p:cNvPr id="16" name="Shape 10"/>
          <p:cNvSpPr/>
          <p:nvPr/>
        </p:nvSpPr>
        <p:spPr>
          <a:xfrm>
            <a:off x="3291840" y="1097280"/>
            <a:ext cx="2606040" cy="502920"/>
          </a:xfrm>
          <a:prstGeom prst="rect">
            <a:avLst/>
          </a:prstGeom>
          <a:solidFill>
            <a:srgbClr val="5D4037"/>
          </a:solidFill>
          <a:ln/>
        </p:spPr>
      </p:sp>
      <p:sp>
        <p:nvSpPr>
          <p:cNvPr id="17" name="Text 11"/>
          <p:cNvSpPr/>
          <p:nvPr/>
        </p:nvSpPr>
        <p:spPr>
          <a:xfrm>
            <a:off x="3291840" y="1097280"/>
            <a:ext cx="26060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Mediano Plazo</a:t>
            </a:r>
            <a:endParaRPr lang="en-US" sz="1500" dirty="0"/>
          </a:p>
        </p:txBody>
      </p:sp>
      <p:pic>
        <p:nvPicPr>
          <p:cNvPr id="18" name="Image 4" descr="preencoded.png"/>
          <p:cNvPicPr>
            <a:picLocks noChangeAspect="1"/>
          </p:cNvPicPr>
          <p:nvPr/>
        </p:nvPicPr>
        <p:blipFill>
          <a:blip r:embed="rId3"/>
          <a:stretch>
            <a:fillRect/>
          </a:stretch>
        </p:blipFill>
        <p:spPr>
          <a:xfrm>
            <a:off x="3429000" y="1874520"/>
            <a:ext cx="201168" cy="201168"/>
          </a:xfrm>
          <a:prstGeom prst="rect">
            <a:avLst/>
          </a:prstGeom>
        </p:spPr>
      </p:pic>
      <p:sp>
        <p:nvSpPr>
          <p:cNvPr id="19" name="Text 12"/>
          <p:cNvSpPr/>
          <p:nvPr/>
        </p:nvSpPr>
        <p:spPr>
          <a:xfrm>
            <a:off x="3703320" y="1783080"/>
            <a:ext cx="2011680" cy="594360"/>
          </a:xfrm>
          <a:prstGeom prst="rect">
            <a:avLst/>
          </a:prstGeom>
          <a:noFill/>
          <a:ln/>
        </p:spPr>
        <p:txBody>
          <a:bodyPr wrap="square" lIns="0" tIns="0" rIns="0" bIns="0" rtlCol="0" anchor="t"/>
          <a:lstStyle/>
          <a:p>
            <a:pPr marL="0" indent="0">
              <a:buNone/>
            </a:pPr>
            <a:r>
              <a:rPr lang="en-US" sz="1100" dirty="0">
                <a:solidFill>
                  <a:srgbClr val="2D1B0E"/>
                </a:solidFill>
                <a:latin typeface="Calibri" pitchFamily="34" charset="0"/>
                <a:ea typeface="Calibri" pitchFamily="34" charset="-122"/>
                <a:cs typeface="Calibri" pitchFamily="34" charset="-120"/>
              </a:rPr>
              <a:t>Implementar balanceo de carga</a:t>
            </a:r>
            <a:endParaRPr lang="en-US" sz="1100" dirty="0"/>
          </a:p>
        </p:txBody>
      </p:sp>
      <p:pic>
        <p:nvPicPr>
          <p:cNvPr id="20" name="Image 5" descr="preencoded.png"/>
          <p:cNvPicPr>
            <a:picLocks noChangeAspect="1"/>
          </p:cNvPicPr>
          <p:nvPr/>
        </p:nvPicPr>
        <p:blipFill>
          <a:blip r:embed="rId3"/>
          <a:stretch>
            <a:fillRect/>
          </a:stretch>
        </p:blipFill>
        <p:spPr>
          <a:xfrm>
            <a:off x="3429000" y="2532888"/>
            <a:ext cx="201168" cy="201168"/>
          </a:xfrm>
          <a:prstGeom prst="rect">
            <a:avLst/>
          </a:prstGeom>
        </p:spPr>
      </p:pic>
      <p:sp>
        <p:nvSpPr>
          <p:cNvPr id="21" name="Text 13"/>
          <p:cNvSpPr/>
          <p:nvPr/>
        </p:nvSpPr>
        <p:spPr>
          <a:xfrm>
            <a:off x="3703320" y="2441448"/>
            <a:ext cx="2011680" cy="594360"/>
          </a:xfrm>
          <a:prstGeom prst="rect">
            <a:avLst/>
          </a:prstGeom>
          <a:noFill/>
          <a:ln/>
        </p:spPr>
        <p:txBody>
          <a:bodyPr wrap="square" lIns="0" tIns="0" rIns="0" bIns="0" rtlCol="0" anchor="t"/>
          <a:lstStyle/>
          <a:p>
            <a:pPr marL="0" indent="0">
              <a:buNone/>
            </a:pPr>
            <a:r>
              <a:rPr lang="en-US" sz="1100" dirty="0">
                <a:solidFill>
                  <a:srgbClr val="2D1B0E"/>
                </a:solidFill>
                <a:latin typeface="Calibri" pitchFamily="34" charset="0"/>
                <a:ea typeface="Calibri" pitchFamily="34" charset="-122"/>
                <a:cs typeface="Calibri" pitchFamily="34" charset="-120"/>
              </a:rPr>
              <a:t>Optimizar consultas a base de datos</a:t>
            </a:r>
            <a:endParaRPr lang="en-US" sz="1100" dirty="0"/>
          </a:p>
        </p:txBody>
      </p:sp>
      <p:pic>
        <p:nvPicPr>
          <p:cNvPr id="22" name="Image 6" descr="preencoded.png"/>
          <p:cNvPicPr>
            <a:picLocks noChangeAspect="1"/>
          </p:cNvPicPr>
          <p:nvPr/>
        </p:nvPicPr>
        <p:blipFill>
          <a:blip r:embed="rId3"/>
          <a:stretch>
            <a:fillRect/>
          </a:stretch>
        </p:blipFill>
        <p:spPr>
          <a:xfrm>
            <a:off x="3429000" y="3191256"/>
            <a:ext cx="201168" cy="201168"/>
          </a:xfrm>
          <a:prstGeom prst="rect">
            <a:avLst/>
          </a:prstGeom>
        </p:spPr>
      </p:pic>
      <p:sp>
        <p:nvSpPr>
          <p:cNvPr id="23" name="Text 14"/>
          <p:cNvSpPr/>
          <p:nvPr/>
        </p:nvSpPr>
        <p:spPr>
          <a:xfrm>
            <a:off x="3703320" y="3099816"/>
            <a:ext cx="2011680" cy="594360"/>
          </a:xfrm>
          <a:prstGeom prst="rect">
            <a:avLst/>
          </a:prstGeom>
          <a:noFill/>
          <a:ln/>
        </p:spPr>
        <p:txBody>
          <a:bodyPr wrap="square" lIns="0" tIns="0" rIns="0" bIns="0" rtlCol="0" anchor="t"/>
          <a:lstStyle/>
          <a:p>
            <a:pPr marL="0" indent="0">
              <a:buNone/>
            </a:pPr>
            <a:r>
              <a:rPr lang="en-US" sz="1100" dirty="0">
                <a:solidFill>
                  <a:srgbClr val="2D1B0E"/>
                </a:solidFill>
                <a:latin typeface="Calibri" pitchFamily="34" charset="0"/>
                <a:ea typeface="Calibri" pitchFamily="34" charset="-122"/>
                <a:cs typeface="Calibri" pitchFamily="34" charset="-120"/>
              </a:rPr>
              <a:t>Incorporar mecanismos de cache</a:t>
            </a:r>
            <a:endParaRPr lang="en-US" sz="1100" dirty="0"/>
          </a:p>
        </p:txBody>
      </p:sp>
      <p:sp>
        <p:nvSpPr>
          <p:cNvPr id="24" name="Shape 15"/>
          <p:cNvSpPr/>
          <p:nvPr/>
        </p:nvSpPr>
        <p:spPr>
          <a:xfrm>
            <a:off x="6126480" y="1097280"/>
            <a:ext cx="2606040" cy="3474720"/>
          </a:xfrm>
          <a:prstGeom prst="rect">
            <a:avLst/>
          </a:prstGeom>
          <a:solidFill>
            <a:srgbClr val="FFFFFF"/>
          </a:solidFill>
          <a:ln/>
          <a:effectLst>
            <a:outerShdw blurRad="76200" dist="25400" dir="8100000" algn="bl" rotWithShape="0">
              <a:srgbClr val="000000">
                <a:alpha val="12000"/>
              </a:srgbClr>
            </a:outerShdw>
          </a:effectLst>
        </p:spPr>
      </p:sp>
      <p:sp>
        <p:nvSpPr>
          <p:cNvPr id="25" name="Shape 16"/>
          <p:cNvSpPr/>
          <p:nvPr/>
        </p:nvSpPr>
        <p:spPr>
          <a:xfrm>
            <a:off x="6126480" y="1097280"/>
            <a:ext cx="2606040" cy="502920"/>
          </a:xfrm>
          <a:prstGeom prst="rect">
            <a:avLst/>
          </a:prstGeom>
          <a:solidFill>
            <a:srgbClr val="1565C0"/>
          </a:solidFill>
          <a:ln/>
        </p:spPr>
      </p:sp>
      <p:sp>
        <p:nvSpPr>
          <p:cNvPr id="26" name="Text 17"/>
          <p:cNvSpPr/>
          <p:nvPr/>
        </p:nvSpPr>
        <p:spPr>
          <a:xfrm>
            <a:off x="6126480" y="1097280"/>
            <a:ext cx="26060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Largo Plazo</a:t>
            </a:r>
            <a:endParaRPr lang="en-US" sz="1500" dirty="0"/>
          </a:p>
        </p:txBody>
      </p:sp>
      <p:pic>
        <p:nvPicPr>
          <p:cNvPr id="27" name="Image 7" descr="preencoded.png"/>
          <p:cNvPicPr>
            <a:picLocks noChangeAspect="1"/>
          </p:cNvPicPr>
          <p:nvPr/>
        </p:nvPicPr>
        <p:blipFill>
          <a:blip r:embed="rId3"/>
          <a:stretch>
            <a:fillRect/>
          </a:stretch>
        </p:blipFill>
        <p:spPr>
          <a:xfrm>
            <a:off x="6263640" y="1874520"/>
            <a:ext cx="201168" cy="201168"/>
          </a:xfrm>
          <a:prstGeom prst="rect">
            <a:avLst/>
          </a:prstGeom>
        </p:spPr>
      </p:pic>
      <p:sp>
        <p:nvSpPr>
          <p:cNvPr id="28" name="Text 18"/>
          <p:cNvSpPr/>
          <p:nvPr/>
        </p:nvSpPr>
        <p:spPr>
          <a:xfrm>
            <a:off x="6537960" y="1783080"/>
            <a:ext cx="2011680" cy="594360"/>
          </a:xfrm>
          <a:prstGeom prst="rect">
            <a:avLst/>
          </a:prstGeom>
          <a:noFill/>
          <a:ln/>
        </p:spPr>
        <p:txBody>
          <a:bodyPr wrap="square" lIns="0" tIns="0" rIns="0" bIns="0" rtlCol="0" anchor="t"/>
          <a:lstStyle/>
          <a:p>
            <a:pPr marL="0" indent="0">
              <a:buNone/>
            </a:pPr>
            <a:r>
              <a:rPr lang="en-US" sz="1100" dirty="0">
                <a:solidFill>
                  <a:srgbClr val="2D1B0E"/>
                </a:solidFill>
                <a:latin typeface="Calibri" pitchFamily="34" charset="0"/>
                <a:ea typeface="Calibri" pitchFamily="34" charset="-122"/>
                <a:cs typeface="Calibri" pitchFamily="34" charset="-120"/>
              </a:rPr>
              <a:t>Monitoreo continuo con metricas APM</a:t>
            </a:r>
            <a:endParaRPr lang="en-US" sz="1100" dirty="0"/>
          </a:p>
        </p:txBody>
      </p:sp>
      <p:pic>
        <p:nvPicPr>
          <p:cNvPr id="29" name="Image 8" descr="preencoded.png"/>
          <p:cNvPicPr>
            <a:picLocks noChangeAspect="1"/>
          </p:cNvPicPr>
          <p:nvPr/>
        </p:nvPicPr>
        <p:blipFill>
          <a:blip r:embed="rId3"/>
          <a:stretch>
            <a:fillRect/>
          </a:stretch>
        </p:blipFill>
        <p:spPr>
          <a:xfrm>
            <a:off x="6263640" y="2532888"/>
            <a:ext cx="201168" cy="201168"/>
          </a:xfrm>
          <a:prstGeom prst="rect">
            <a:avLst/>
          </a:prstGeom>
        </p:spPr>
      </p:pic>
      <p:sp>
        <p:nvSpPr>
          <p:cNvPr id="30" name="Text 19"/>
          <p:cNvSpPr/>
          <p:nvPr/>
        </p:nvSpPr>
        <p:spPr>
          <a:xfrm>
            <a:off x="6537960" y="2441448"/>
            <a:ext cx="2011680" cy="594360"/>
          </a:xfrm>
          <a:prstGeom prst="rect">
            <a:avLst/>
          </a:prstGeom>
          <a:noFill/>
          <a:ln/>
        </p:spPr>
        <p:txBody>
          <a:bodyPr wrap="square" lIns="0" tIns="0" rIns="0" bIns="0" rtlCol="0" anchor="t"/>
          <a:lstStyle/>
          <a:p>
            <a:pPr marL="0" indent="0">
              <a:buNone/>
            </a:pPr>
            <a:r>
              <a:rPr lang="en-US" sz="1100" dirty="0">
                <a:solidFill>
                  <a:srgbClr val="2D1B0E"/>
                </a:solidFill>
                <a:latin typeface="Calibri" pitchFamily="34" charset="0"/>
                <a:ea typeface="Calibri" pitchFamily="34" charset="-122"/>
                <a:cs typeface="Calibri" pitchFamily="34" charset="-120"/>
              </a:rPr>
              <a:t>Pruebas de estres y resistencia periodicas</a:t>
            </a:r>
            <a:endParaRPr lang="en-US" sz="1100" dirty="0"/>
          </a:p>
        </p:txBody>
      </p:sp>
      <p:pic>
        <p:nvPicPr>
          <p:cNvPr id="31" name="Image 9" descr="preencoded.png"/>
          <p:cNvPicPr>
            <a:picLocks noChangeAspect="1"/>
          </p:cNvPicPr>
          <p:nvPr/>
        </p:nvPicPr>
        <p:blipFill>
          <a:blip r:embed="rId3"/>
          <a:stretch>
            <a:fillRect/>
          </a:stretch>
        </p:blipFill>
        <p:spPr>
          <a:xfrm>
            <a:off x="6263640" y="3191256"/>
            <a:ext cx="201168" cy="201168"/>
          </a:xfrm>
          <a:prstGeom prst="rect">
            <a:avLst/>
          </a:prstGeom>
        </p:spPr>
      </p:pic>
      <p:sp>
        <p:nvSpPr>
          <p:cNvPr id="32" name="Text 20"/>
          <p:cNvSpPr/>
          <p:nvPr/>
        </p:nvSpPr>
        <p:spPr>
          <a:xfrm>
            <a:off x="6537960" y="3099816"/>
            <a:ext cx="2011680" cy="594360"/>
          </a:xfrm>
          <a:prstGeom prst="rect">
            <a:avLst/>
          </a:prstGeom>
          <a:noFill/>
          <a:ln/>
        </p:spPr>
        <p:txBody>
          <a:bodyPr wrap="square" lIns="0" tIns="0" rIns="0" bIns="0" rtlCol="0" anchor="t"/>
          <a:lstStyle/>
          <a:p>
            <a:pPr marL="0" indent="0">
              <a:buNone/>
            </a:pPr>
            <a:r>
              <a:rPr lang="en-US" sz="1100" dirty="0">
                <a:solidFill>
                  <a:srgbClr val="2D1B0E"/>
                </a:solidFill>
                <a:latin typeface="Calibri" pitchFamily="34" charset="0"/>
                <a:ea typeface="Calibri" pitchFamily="34" charset="-122"/>
                <a:cs typeface="Calibri" pitchFamily="34" charset="-120"/>
              </a:rPr>
              <a:t>Estrategias de escalabilidad horizontal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D1B0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85042"/>
          </a:solidFill>
          <a:ln/>
        </p:spPr>
      </p:sp>
      <p:sp>
        <p:nvSpPr>
          <p:cNvPr id="3" name="Text 1"/>
          <p:cNvSpPr/>
          <p:nvPr/>
        </p:nvSpPr>
        <p:spPr>
          <a:xfrm>
            <a:off x="731520" y="4572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Conclusion</a:t>
            </a:r>
            <a:endParaRPr lang="en-US" sz="3600" dirty="0"/>
          </a:p>
        </p:txBody>
      </p:sp>
      <p:sp>
        <p:nvSpPr>
          <p:cNvPr id="4" name="Shape 2"/>
          <p:cNvSpPr/>
          <p:nvPr/>
        </p:nvSpPr>
        <p:spPr>
          <a:xfrm>
            <a:off x="731520" y="1188720"/>
            <a:ext cx="2286000" cy="36576"/>
          </a:xfrm>
          <a:prstGeom prst="rect">
            <a:avLst/>
          </a:prstGeom>
          <a:solidFill>
            <a:srgbClr val="B85042"/>
          </a:solidFill>
          <a:ln/>
        </p:spPr>
      </p:sp>
      <p:sp>
        <p:nvSpPr>
          <p:cNvPr id="5" name="Text 3"/>
          <p:cNvSpPr/>
          <p:nvPr/>
        </p:nvSpPr>
        <p:spPr>
          <a:xfrm>
            <a:off x="731520" y="1554480"/>
            <a:ext cx="7680960" cy="914400"/>
          </a:xfrm>
          <a:prstGeom prst="rect">
            <a:avLst/>
          </a:prstGeom>
          <a:noFill/>
          <a:ln/>
        </p:spPr>
        <p:txBody>
          <a:bodyPr wrap="square" lIns="0" tIns="0" rIns="0" bIns="0" rtlCol="0" anchor="t"/>
          <a:lstStyle/>
          <a:p>
            <a:pPr marL="0" indent="0">
              <a:buNone/>
            </a:pPr>
            <a:r>
              <a:rPr lang="en-US" sz="1600" dirty="0">
                <a:solidFill>
                  <a:srgbClr val="E7E8D1"/>
                </a:solidFill>
                <a:latin typeface="Calibri" pitchFamily="34" charset="0"/>
                <a:ea typeface="Calibri" pitchFamily="34" charset="-122"/>
                <a:cs typeface="Calibri" pitchFamily="34" charset="-120"/>
              </a:rPr>
              <a:t>Compumuebles Sabana posee una arquitectura estable para la navegacion y seleccion de productos, capaz de soportar 1,000 usuarios concurrentes sin errores ni degradacion significativa.</a:t>
            </a:r>
            <a:endParaRPr lang="en-US" sz="1600" dirty="0"/>
          </a:p>
        </p:txBody>
      </p:sp>
      <p:sp>
        <p:nvSpPr>
          <p:cNvPr id="6" name="Text 4"/>
          <p:cNvSpPr/>
          <p:nvPr/>
        </p:nvSpPr>
        <p:spPr>
          <a:xfrm>
            <a:off x="731520" y="2560320"/>
            <a:ext cx="7680960" cy="1097280"/>
          </a:xfrm>
          <a:prstGeom prst="rect">
            <a:avLst/>
          </a:prstGeom>
          <a:noFill/>
          <a:ln/>
        </p:spPr>
        <p:txBody>
          <a:bodyPr wrap="square" lIns="0" tIns="0" rIns="0" bIns="0" rtlCol="0" anchor="t"/>
          <a:lstStyle/>
          <a:p>
            <a:pPr marL="0" indent="0">
              <a:buNone/>
            </a:pPr>
            <a:r>
              <a:rPr lang="en-US" sz="1600" dirty="0">
                <a:solidFill>
                  <a:srgbClr val="E7E8D1"/>
                </a:solidFill>
                <a:latin typeface="Calibri" pitchFamily="34" charset="0"/>
                <a:ea typeface="Calibri" pitchFamily="34" charset="-122"/>
                <a:cs typeface="Calibri" pitchFamily="34" charset="-120"/>
              </a:rPr>
              <a:t>Sin embargo, el flujo completo de compra y pago presenta limitaciones importantes cuando la concurrencia alcanza los 500 usuarios. Los servicios criticos del negocio mantienen comportamiento estable, pero la infraestructura requiere optimizaciones para garantizar una experiencia consistente bajo alta demanda.</a:t>
            </a:r>
            <a:endParaRPr lang="en-US" sz="1600" dirty="0"/>
          </a:p>
        </p:txBody>
      </p:sp>
      <p:sp>
        <p:nvSpPr>
          <p:cNvPr id="7" name="Shape 5"/>
          <p:cNvSpPr/>
          <p:nvPr/>
        </p:nvSpPr>
        <p:spPr>
          <a:xfrm>
            <a:off x="731520" y="3840480"/>
            <a:ext cx="7680960" cy="822960"/>
          </a:xfrm>
          <a:prstGeom prst="rect">
            <a:avLst/>
          </a:prstGeom>
          <a:solidFill>
            <a:srgbClr val="B85042">
              <a:alpha val="80000"/>
            </a:srgbClr>
          </a:solidFill>
          <a:ln/>
        </p:spPr>
      </p:sp>
      <p:sp>
        <p:nvSpPr>
          <p:cNvPr id="8" name="Text 6"/>
          <p:cNvSpPr/>
          <p:nvPr/>
        </p:nvSpPr>
        <p:spPr>
          <a:xfrm>
            <a:off x="731520" y="3840480"/>
            <a:ext cx="7680960" cy="822960"/>
          </a:xfrm>
          <a:prstGeom prst="rect">
            <a:avLst/>
          </a:prstGeom>
          <a:noFill/>
          <a:ln/>
        </p:spPr>
        <p:txBody>
          <a:bodyPr wrap="square" lIns="0" tIns="0" rIns="0" bIns="0" rtlCol="0" anchor="ctr"/>
          <a:lstStyle/>
          <a:p>
            <a:pPr marL="0" indent="0" algn="ctr">
              <a:buNone/>
            </a:pPr>
            <a:r>
              <a:rPr lang="en-US" sz="1300" b="1" dirty="0">
                <a:solidFill>
                  <a:srgbClr val="A7BEAE"/>
                </a:solidFill>
                <a:latin typeface="Calibri" pitchFamily="34" charset="0"/>
                <a:ea typeface="Calibri" pitchFamily="34" charset="-122"/>
                <a:cs typeface="Calibri" pitchFamily="34" charset="-120"/>
              </a:rPr>
              <a:t>APDEX Seleccion: </a:t>
            </a:r>
            <a:r>
              <a:rPr lang="en-US" sz="1300" dirty="0">
                <a:solidFill>
                  <a:srgbClr val="FFFFFF"/>
                </a:solidFill>
                <a:latin typeface="Calibri" pitchFamily="34" charset="0"/>
                <a:ea typeface="Calibri" pitchFamily="34" charset="-122"/>
                <a:cs typeface="Calibri" pitchFamily="34" charset="-120"/>
              </a:rPr>
              <a:t>0.939  |  </a:t>
            </a:r>
            <a:r>
              <a:rPr lang="en-US" sz="1300" b="1" dirty="0">
                <a:solidFill>
                  <a:srgbClr val="A7BEAE"/>
                </a:solidFill>
                <a:latin typeface="Calibri" pitchFamily="34" charset="0"/>
                <a:ea typeface="Calibri" pitchFamily="34" charset="-122"/>
                <a:cs typeface="Calibri" pitchFamily="34" charset="-120"/>
              </a:rPr>
              <a:t>APDEX Pago: </a:t>
            </a:r>
            <a:r>
              <a:rPr lang="en-US" sz="1300" dirty="0">
                <a:solidFill>
                  <a:srgbClr val="FFFFFF"/>
                </a:solidFill>
                <a:latin typeface="Calibri" pitchFamily="34" charset="0"/>
                <a:ea typeface="Calibri" pitchFamily="34" charset="-122"/>
                <a:cs typeface="Calibri" pitchFamily="34" charset="-120"/>
              </a:rPr>
              <a:t>0.223  |  </a:t>
            </a:r>
            <a:r>
              <a:rPr lang="en-US" sz="1300" b="1" dirty="0">
                <a:solidFill>
                  <a:srgbClr val="A7BEAE"/>
                </a:solidFill>
                <a:latin typeface="Calibri" pitchFamily="34" charset="0"/>
                <a:ea typeface="Calibri" pitchFamily="34" charset="-122"/>
                <a:cs typeface="Calibri" pitchFamily="34" charset="-120"/>
              </a:rPr>
              <a:t>Siguiente paso: </a:t>
            </a:r>
            <a:r>
              <a:rPr lang="en-US" sz="1300" dirty="0">
                <a:solidFill>
                  <a:srgbClr val="FFFFFF"/>
                </a:solidFill>
                <a:latin typeface="Calibri" pitchFamily="34" charset="0"/>
                <a:ea typeface="Calibri" pitchFamily="34" charset="-122"/>
                <a:cs typeface="Calibri" pitchFamily="34" charset="-120"/>
              </a:rPr>
              <a:t>E2E real con Playwright o Cypress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752</Words>
  <Application>Microsoft Office PowerPoint</Application>
  <PresentationFormat>Presentación en pantalla (16:9)</PresentationFormat>
  <Paragraphs>246</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Muebles Modernos</dc:title>
  <dc:subject>PptxGenJS Presentation</dc:subject>
  <dc:creator>MuleRun</dc:creator>
  <cp:lastModifiedBy>LUIS EDUARDO GONZÁLEZ MEJIA</cp:lastModifiedBy>
  <cp:revision>1</cp:revision>
  <dcterms:created xsi:type="dcterms:W3CDTF">2026-06-17T23:31:35Z</dcterms:created>
  <dcterms:modified xsi:type="dcterms:W3CDTF">2026-06-20T19:53:06Z</dcterms:modified>
</cp:coreProperties>
</file>