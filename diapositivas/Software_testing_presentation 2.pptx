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48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informe técnico de pruebas del proyecto Muebles-Unisabana. 137 pruebas automatizadas, 88% de cobertura de líneas, 100% verdes. Stack .NET / xUnit.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rápida del estado de calidad: 137/137 verdes, 88% líneas, 64% ramas, ~3 minutos de ejecución incluyendo arranque de contenedores.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Conteo real por nivel de prueba. Las unitarias dominan con 55.5%, seguidas de sistema HTTP (19%), integración con BD real (18.2%) y mocks con Moq (7.3%).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pruebas por servicio y nivel. AuthService concentra 37 pruebas, 16 de ellas HTTP por la complejidad del CRUD de usuarios. CatalogService es el más liviano con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Cobertura por capa de código. La lógica de dominio y los DTOs están casi al 100%; los repositorios al 93% y la generación de PDF al 97.75%. Los endpoints HTTP arrastran el promedio a 73%.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Cobertura global: 88% líneas, 64% ramas. El branch coverage es el punto a vigilar; las validaciones encadenadas con OR solo se prueban en su primera 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Fortalezas del esquema de pruebas: dominio sólido, persistencia robusta, aislamiento sin flakiness, pruebas de sistema realistas, patrón AAA consistente y refactors productivos.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Riesgos y debilidades detectadas: branch coverage 64%, gateway Node sin pruebas (0%), frontend parcial (~70%), sin E2E real, sin pruebas de carga ni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 para defender el proyecto: 137 pruebas en los 4 niveles que pide la guía, 88% de líneas sobre el umbral del 80%, dominio al 99%, repositorios al 93%, PDF al 97.75%. Gaps conocidos: gateway Node (0%) y E2E real, documentados como trabajo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4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12192000" y="-1524000"/>
            <a:ext cx="7239000" cy="5429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857250"/>
            <a:ext cx="44077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INGENIERIA DE SOFTWARE - TESTING ·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4400" y="1057275"/>
            <a:ext cx="47073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Jonathan Muñoz Vargas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257300"/>
            <a:ext cx="47073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Luis Eduardo Gonzalez Mejia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457325"/>
            <a:ext cx="32777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Juan Sebastian Cuervo Baquero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3676650"/>
            <a:ext cx="14668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EFFF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INFORME TÉCNICO DE PRUEBAS · .NET · XUNIT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4171950"/>
            <a:ext cx="14668500" cy="1046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100" b="1" kern="0" spc="-283" dirty="0">
                <a:solidFill>
                  <a:srgbClr val="F7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Muebles‑Unisabana</a:t>
            </a:r>
            <a:endParaRPr lang="en-US" sz="8100" dirty="0"/>
          </a:p>
        </p:txBody>
      </p:sp>
      <p:sp>
        <p:nvSpPr>
          <p:cNvPr id="9" name="Text 6"/>
          <p:cNvSpPr/>
          <p:nvPr/>
        </p:nvSpPr>
        <p:spPr>
          <a:xfrm>
            <a:off x="914400" y="5446663"/>
            <a:ext cx="1079182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Estrategia, niveles y resultados de las pruebas automatizadas de los microservicios.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14400" y="8058150"/>
            <a:ext cx="3986213" cy="1371600"/>
          </a:xfrm>
          <a:prstGeom prst="roundRect">
            <a:avLst>
              <a:gd name="adj" fmla="val 12500"/>
            </a:avLst>
          </a:prstGeom>
          <a:solidFill>
            <a:srgbClr val="F7F7EC">
              <a:alpha val="6000"/>
            </a:srgbClr>
          </a:solidFill>
          <a:ln w="9525">
            <a:solidFill>
              <a:srgbClr val="92E09E">
                <a:alpha val="2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9675" y="8315325"/>
            <a:ext cx="373522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26" dirty="0">
                <a:solidFill>
                  <a:srgbClr val="EFF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1209675" y="8943975"/>
            <a:ext cx="37352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automatizadas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72063" y="8058150"/>
            <a:ext cx="3986213" cy="1371600"/>
          </a:xfrm>
          <a:prstGeom prst="roundRect">
            <a:avLst>
              <a:gd name="adj" fmla="val 12500"/>
            </a:avLst>
          </a:prstGeom>
          <a:solidFill>
            <a:srgbClr val="F7F7EC">
              <a:alpha val="6000"/>
            </a:srgbClr>
          </a:solidFill>
          <a:ln w="9525">
            <a:solidFill>
              <a:srgbClr val="92E09E">
                <a:alpha val="2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67338" y="8315325"/>
            <a:ext cx="373522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26" dirty="0">
                <a:solidFill>
                  <a:srgbClr val="EFF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5367338" y="8943975"/>
            <a:ext cx="37352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 prueba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229725" y="8058150"/>
            <a:ext cx="3986213" cy="1371600"/>
          </a:xfrm>
          <a:prstGeom prst="roundRect">
            <a:avLst>
              <a:gd name="adj" fmla="val 12500"/>
            </a:avLst>
          </a:prstGeom>
          <a:solidFill>
            <a:srgbClr val="F7F7EC">
              <a:alpha val="6000"/>
            </a:srgbClr>
          </a:solidFill>
          <a:ln w="9525">
            <a:solidFill>
              <a:srgbClr val="92E09E">
                <a:alpha val="2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25000" y="8315325"/>
            <a:ext cx="373522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26" dirty="0">
                <a:solidFill>
                  <a:srgbClr val="EFF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9525000" y="8943975"/>
            <a:ext cx="37352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líneas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3387388" y="8058150"/>
            <a:ext cx="3986213" cy="1371600"/>
          </a:xfrm>
          <a:prstGeom prst="roundRect">
            <a:avLst>
              <a:gd name="adj" fmla="val 12500"/>
            </a:avLst>
          </a:prstGeom>
          <a:solidFill>
            <a:srgbClr val="F7F7EC">
              <a:alpha val="6000"/>
            </a:srgbClr>
          </a:solidFill>
          <a:ln w="9525">
            <a:solidFill>
              <a:srgbClr val="92E09E">
                <a:alpha val="2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682663" y="8315325"/>
            <a:ext cx="373522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26" dirty="0">
                <a:solidFill>
                  <a:srgbClr val="92E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13682663" y="8943975"/>
            <a:ext cx="37352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en verde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74381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685800"/>
            <a:ext cx="75508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RESUMEN EJECUTIVO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38200" y="1009650"/>
            <a:ext cx="7550840" cy="56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50" b="1" kern="0" spc="-10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calidad de un vistazo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5529471" y="1362819"/>
            <a:ext cx="21123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muebles-unisabana · main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38200" y="2172444"/>
            <a:ext cx="3981450" cy="7428756"/>
          </a:xfrm>
          <a:prstGeom prst="roundRect">
            <a:avLst>
              <a:gd name="adj" fmla="val 478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14241B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1100" y="2515344"/>
            <a:ext cx="36252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 PRUEBAS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181100" y="8123039"/>
            <a:ext cx="362521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600" b="1" kern="0" spc="-264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1181100" y="9010650"/>
            <a:ext cx="36252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distribuidas en 4 niveles y 6 servicios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5048250" y="2172444"/>
            <a:ext cx="3981450" cy="7428756"/>
          </a:xfrm>
          <a:prstGeom prst="roundRect">
            <a:avLst>
              <a:gd name="adj" fmla="val 478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14241B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1150" y="2515344"/>
            <a:ext cx="36252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COBERTURA DE LÍNEAS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391150" y="8123039"/>
            <a:ext cx="362521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600" b="1" kern="0" spc="-264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r>
              <a:rPr lang="en-US" sz="3150" b="1" kern="0" spc="-264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5391150" y="9010650"/>
            <a:ext cx="36252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 el umbral del 80% del taller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258300" y="2172444"/>
            <a:ext cx="3981450" cy="7428756"/>
          </a:xfrm>
          <a:prstGeom prst="roundRect">
            <a:avLst>
              <a:gd name="adj" fmla="val 478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14241B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0" y="2515344"/>
            <a:ext cx="36252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601200" y="8123039"/>
            <a:ext cx="362521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600" b="1" kern="0" spc="-264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137/137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9601200" y="9010650"/>
            <a:ext cx="36252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fallos · 0 flakiness reportada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3468350" y="2172444"/>
            <a:ext cx="3981450" cy="7428756"/>
          </a:xfrm>
          <a:prstGeom prst="roundRect">
            <a:avLst>
              <a:gd name="adj" fmla="val 4785"/>
            </a:avLst>
          </a:prstGeom>
          <a:solidFill>
            <a:srgbClr val="2A4737"/>
          </a:solidFill>
          <a:ln/>
          <a:effectLst>
            <a:outerShdw blurRad="190500" dist="76200" dir="5400000" algn="bl" rotWithShape="0">
              <a:srgbClr val="14241B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811250" y="2515344"/>
            <a:ext cx="362521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DE EJECUCIÓN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811250" y="8123039"/>
            <a:ext cx="362521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600" b="1" kern="0" spc="-264" dirty="0">
                <a:solidFill>
                  <a:srgbClr val="EFF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</a:t>
            </a:r>
            <a:r>
              <a:rPr lang="en-US" sz="3150" b="1" kern="0" spc="-264" dirty="0">
                <a:solidFill>
                  <a:srgbClr val="EFF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6600" dirty="0"/>
          </a:p>
        </p:txBody>
      </p:sp>
      <p:sp>
        <p:nvSpPr>
          <p:cNvPr id="21" name="Text 19"/>
          <p:cNvSpPr/>
          <p:nvPr/>
        </p:nvSpPr>
        <p:spPr>
          <a:xfrm>
            <a:off x="13811250" y="9010650"/>
            <a:ext cx="36252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arranque de contenedores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74381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685800"/>
            <a:ext cx="77736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CONTEO POR NIVEL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38200" y="1009650"/>
            <a:ext cx="7773650" cy="56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50" b="1" kern="0" spc="-10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ejecuciones reales, por nivel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569630" y="1362819"/>
            <a:ext cx="9563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3957935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Unitarias puras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4262735"/>
            <a:ext cx="35623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 aisladas · sin BD ni HTTP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4343400" y="3962698"/>
            <a:ext cx="11220450" cy="514350"/>
          </a:xfrm>
          <a:prstGeom prst="roundRect">
            <a:avLst>
              <a:gd name="adj" fmla="val 50000"/>
            </a:avLst>
          </a:prstGeom>
          <a:solidFill>
            <a:srgbClr val="ECECDD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3962698"/>
            <a:ext cx="6227266" cy="514350"/>
          </a:xfrm>
          <a:prstGeom prst="roundRect">
            <a:avLst>
              <a:gd name="adj" fmla="val 50000"/>
            </a:avLst>
          </a:prstGeom>
          <a:solidFill>
            <a:srgbClr val="2A4737"/>
          </a:solidFill>
          <a:ln/>
        </p:spPr>
      </p:sp>
      <p:sp>
        <p:nvSpPr>
          <p:cNvPr id="10" name="Text 8"/>
          <p:cNvSpPr/>
          <p:nvPr/>
        </p:nvSpPr>
        <p:spPr>
          <a:xfrm>
            <a:off x="16355318" y="4005560"/>
            <a:ext cx="4848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 kern="0" spc="-60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859250" y="4177010"/>
            <a:ext cx="59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55.5%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8200" y="4691360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(HTTP)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8200" y="4996160"/>
            <a:ext cx="33356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endpoints · servidor en memoria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4343400" y="4805660"/>
            <a:ext cx="11220450" cy="514350"/>
          </a:xfrm>
          <a:prstGeom prst="roundRect">
            <a:avLst>
              <a:gd name="adj" fmla="val 50000"/>
            </a:avLst>
          </a:prstGeom>
          <a:solidFill>
            <a:srgbClr val="ECECDD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4805660"/>
            <a:ext cx="2131814" cy="514350"/>
          </a:xfrm>
          <a:prstGeom prst="roundRect">
            <a:avLst>
              <a:gd name="adj" fmla="val 50000"/>
            </a:avLst>
          </a:prstGeom>
          <a:solidFill>
            <a:srgbClr val="14502F"/>
          </a:solidFill>
          <a:ln/>
        </p:spPr>
      </p:sp>
      <p:sp>
        <p:nvSpPr>
          <p:cNvPr id="16" name="Text 14"/>
          <p:cNvSpPr/>
          <p:nvPr/>
        </p:nvSpPr>
        <p:spPr>
          <a:xfrm>
            <a:off x="16355318" y="4848523"/>
            <a:ext cx="4848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 kern="0" spc="-60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859250" y="5019973"/>
            <a:ext cx="59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19.0%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200" y="5643860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(BD real)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38200" y="5948660"/>
            <a:ext cx="35623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+ base de datos · SQLite / Postgres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4343400" y="5648623"/>
            <a:ext cx="11220450" cy="514350"/>
          </a:xfrm>
          <a:prstGeom prst="roundRect">
            <a:avLst>
              <a:gd name="adj" fmla="val 50000"/>
            </a:avLst>
          </a:prstGeom>
          <a:solidFill>
            <a:srgbClr val="ECEC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5648623"/>
            <a:ext cx="2042071" cy="514350"/>
          </a:xfrm>
          <a:prstGeom prst="roundRect">
            <a:avLst>
              <a:gd name="adj" fmla="val 50000"/>
            </a:avLst>
          </a:prstGeom>
          <a:solidFill>
            <a:srgbClr val="92E09E"/>
          </a:solidFill>
          <a:ln/>
        </p:spPr>
      </p:sp>
      <p:sp>
        <p:nvSpPr>
          <p:cNvPr id="22" name="Text 20"/>
          <p:cNvSpPr/>
          <p:nvPr/>
        </p:nvSpPr>
        <p:spPr>
          <a:xfrm>
            <a:off x="16355318" y="5691485"/>
            <a:ext cx="4848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 kern="0" spc="-60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6859250" y="5862935"/>
            <a:ext cx="59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18.2%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8200" y="6377285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(Moq)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38200" y="6682085"/>
            <a:ext cx="35623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Interacciones con dobles de dependencias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4343400" y="6382048"/>
            <a:ext cx="11220450" cy="514350"/>
          </a:xfrm>
          <a:prstGeom prst="roundRect">
            <a:avLst>
              <a:gd name="adj" fmla="val 50000"/>
            </a:avLst>
          </a:prstGeom>
          <a:solidFill>
            <a:srgbClr val="ECECDD"/>
          </a:solidFill>
          <a:ln/>
        </p:spPr>
      </p:sp>
      <p:sp>
        <p:nvSpPr>
          <p:cNvPr id="27" name="Shape 25"/>
          <p:cNvSpPr/>
          <p:nvPr/>
        </p:nvSpPr>
        <p:spPr>
          <a:xfrm>
            <a:off x="4343400" y="6382048"/>
            <a:ext cx="819001" cy="514350"/>
          </a:xfrm>
          <a:prstGeom prst="roundRect">
            <a:avLst>
              <a:gd name="adj" fmla="val 50000"/>
            </a:avLst>
          </a:prstGeom>
          <a:solidFill>
            <a:srgbClr val="EFFF85"/>
          </a:solidFill>
          <a:ln/>
        </p:spPr>
      </p:sp>
      <p:sp>
        <p:nvSpPr>
          <p:cNvPr id="28" name="Text 26"/>
          <p:cNvSpPr/>
          <p:nvPr/>
        </p:nvSpPr>
        <p:spPr>
          <a:xfrm>
            <a:off x="16458158" y="6424910"/>
            <a:ext cx="4848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 kern="0" spc="-60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6962090" y="6596360"/>
            <a:ext cx="4877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7.3%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8200" y="8953500"/>
            <a:ext cx="16611600" cy="647700"/>
          </a:xfrm>
          <a:prstGeom prst="roundRect">
            <a:avLst>
              <a:gd name="adj" fmla="val 20588"/>
            </a:avLst>
          </a:prstGeom>
          <a:solidFill>
            <a:srgbClr val="DCFCE1"/>
          </a:solidFill>
          <a:ln/>
        </p:spPr>
      </p:sp>
      <p:sp>
        <p:nvSpPr>
          <p:cNvPr id="31" name="Text 29"/>
          <p:cNvSpPr/>
          <p:nvPr/>
        </p:nvSpPr>
        <p:spPr>
          <a:xfrm>
            <a:off x="1085850" y="9144000"/>
            <a:ext cx="166146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técnica: </a:t>
            </a:r>
            <a:r>
              <a:rPr lang="en-US" sz="1350" dirty="0">
                <a:solidFill>
                  <a:srgbClr val="14502F"/>
                </a:solidFill>
                <a:highlight>
                  <a:srgbClr val="DCFCE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 las 76 unitarias, 25 son </a:t>
            </a:r>
            <a:r>
              <a:rPr lang="en-US" sz="1350" dirty="0">
                <a:solidFill>
                  <a:srgbClr val="14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[Fact] </a:t>
            </a:r>
            <a:r>
              <a:rPr lang="en-US" sz="1350" dirty="0">
                <a:solidFill>
                  <a:srgbClr val="14502F"/>
                </a:solidFill>
                <a:highlight>
                  <a:srgbClr val="DCFCE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simples y 51 son ejecuciones de 14 </a:t>
            </a:r>
            <a:r>
              <a:rPr lang="en-US" sz="1350" dirty="0">
                <a:solidFill>
                  <a:srgbClr val="14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[Theory] </a:t>
            </a:r>
            <a:r>
              <a:rPr lang="en-US" sz="1350" dirty="0">
                <a:solidFill>
                  <a:srgbClr val="14502F"/>
                </a:solidFill>
                <a:highlight>
                  <a:srgbClr val="DCFCE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parametrizados — cada </a:t>
            </a:r>
            <a:r>
              <a:rPr lang="en-US" sz="1350" dirty="0">
                <a:solidFill>
                  <a:srgbClr val="14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[InlineData] </a:t>
            </a:r>
            <a:r>
              <a:rPr lang="en-US" sz="1350" dirty="0">
                <a:solidFill>
                  <a:srgbClr val="14502F"/>
                </a:solidFill>
                <a:highlight>
                  <a:srgbClr val="DCFCE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cuenta como una ejecución independiente.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74381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685800"/>
            <a:ext cx="69644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DETALLE POR SERVICIO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38200" y="1009650"/>
            <a:ext cx="6964427" cy="56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50" b="1" kern="0" spc="-10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por microservicio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5449550" y="1362819"/>
            <a:ext cx="22002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servicios · 137 pruebas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38200" y="2439144"/>
            <a:ext cx="16611600" cy="19050"/>
          </a:xfrm>
          <a:prstGeom prst="rect">
            <a:avLst/>
          </a:prstGeom>
          <a:solidFill>
            <a:srgbClr val="2A4737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2096244"/>
            <a:ext cx="44296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739350" y="2096244"/>
            <a:ext cx="27685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6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UNITARIAS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7256175" y="2096244"/>
            <a:ext cx="27686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6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INTEGRACIÓN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773163" y="2096244"/>
            <a:ext cx="27685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6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289988" y="2096244"/>
            <a:ext cx="27686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6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4806970" y="2096244"/>
            <a:ext cx="27686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6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838200" y="319161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2677269"/>
            <a:ext cx="4429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2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AuthService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39350" y="266774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56175" y="266774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73163" y="266774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289988" y="2691557"/>
            <a:ext cx="2768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806970" y="2691557"/>
            <a:ext cx="2768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" y="393456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" y="3420219"/>
            <a:ext cx="4429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2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InventoryService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39350" y="341069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56175" y="341069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73163" y="341069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289988" y="341069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806970" y="3434507"/>
            <a:ext cx="2768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38200" y="467751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28" name="Text 26"/>
          <p:cNvSpPr/>
          <p:nvPr/>
        </p:nvSpPr>
        <p:spPr>
          <a:xfrm>
            <a:off x="838200" y="4163169"/>
            <a:ext cx="4429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2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OrderService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39350" y="415364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56175" y="415364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73163" y="415364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289988" y="415364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806970" y="4177457"/>
            <a:ext cx="2768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38200" y="542046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35" name="Text 33"/>
          <p:cNvSpPr/>
          <p:nvPr/>
        </p:nvSpPr>
        <p:spPr>
          <a:xfrm>
            <a:off x="838200" y="4906119"/>
            <a:ext cx="4429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2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PaymentService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739350" y="489659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56175" y="489659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773163" y="489659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289988" y="489659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4806970" y="4920407"/>
            <a:ext cx="2768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38200" y="616341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42" name="Text 40"/>
          <p:cNvSpPr/>
          <p:nvPr/>
        </p:nvSpPr>
        <p:spPr>
          <a:xfrm>
            <a:off x="838200" y="5649069"/>
            <a:ext cx="4429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2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CartService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739350" y="563954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256175" y="563954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773163" y="563954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289988" y="563954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4806970" y="5663357"/>
            <a:ext cx="2768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38200" y="690636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49" name="Text 47"/>
          <p:cNvSpPr/>
          <p:nvPr/>
        </p:nvSpPr>
        <p:spPr>
          <a:xfrm>
            <a:off x="838200" y="6392019"/>
            <a:ext cx="4429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2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CatalogService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739350" y="638249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256175" y="638249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773163" y="6382494"/>
            <a:ext cx="27685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2289988" y="6382494"/>
            <a:ext cx="276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4806970" y="6406307"/>
            <a:ext cx="2768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38200" y="7149257"/>
            <a:ext cx="44296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4739350" y="7144494"/>
            <a:ext cx="27685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7256175" y="7144494"/>
            <a:ext cx="27686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9773163" y="7144494"/>
            <a:ext cx="27685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2289988" y="7144494"/>
            <a:ext cx="27686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950" dirty="0"/>
          </a:p>
        </p:txBody>
      </p:sp>
      <p:sp>
        <p:nvSpPr>
          <p:cNvPr id="60" name="Text 58"/>
          <p:cNvSpPr/>
          <p:nvPr/>
        </p:nvSpPr>
        <p:spPr>
          <a:xfrm>
            <a:off x="14806970" y="7144494"/>
            <a:ext cx="27686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74381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685800"/>
            <a:ext cx="7075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COBERTURA POR CAPA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38200" y="1009650"/>
            <a:ext cx="7075750" cy="56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50" b="1" kern="0" spc="-10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está cubierto el código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5689461" y="1362819"/>
            <a:ext cx="1936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coverlet · % de líneas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4086523"/>
            <a:ext cx="5448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Validadores puros </a:t>
            </a:r>
            <a:r>
              <a:rPr lang="en-US" sz="13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*Validator, *Calculator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38200" y="4381798"/>
            <a:ext cx="5448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lógica de dominio probada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6096000" y="4200823"/>
            <a:ext cx="9906000" cy="285750"/>
          </a:xfrm>
          <a:prstGeom prst="roundRect">
            <a:avLst>
              <a:gd name="adj" fmla="val 50000"/>
            </a:avLst>
          </a:prstGeom>
          <a:solidFill>
            <a:srgbClr val="ECECDD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0" y="4200823"/>
            <a:ext cx="9806880" cy="285750"/>
          </a:xfrm>
          <a:prstGeom prst="roundRect">
            <a:avLst>
              <a:gd name="adj" fmla="val 50000"/>
            </a:avLst>
          </a:prstGeom>
          <a:solidFill>
            <a:srgbClr val="14502F"/>
          </a:solidFill>
          <a:ln/>
        </p:spPr>
      </p:sp>
      <p:sp>
        <p:nvSpPr>
          <p:cNvPr id="10" name="Text 8"/>
          <p:cNvSpPr/>
          <p:nvPr/>
        </p:nvSpPr>
        <p:spPr>
          <a:xfrm>
            <a:off x="16230600" y="4157960"/>
            <a:ext cx="1219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b="1" kern="0" spc="-51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38200" y="4848523"/>
            <a:ext cx="5448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Binario </a:t>
            </a:r>
            <a:r>
              <a:rPr lang="en-US" sz="13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InvoicePdfBuilder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38200" y="5143798"/>
            <a:ext cx="5448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 validada incluyendo magic-bytes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6096000" y="4962823"/>
            <a:ext cx="9906000" cy="285750"/>
          </a:xfrm>
          <a:prstGeom prst="roundRect">
            <a:avLst>
              <a:gd name="adj" fmla="val 50000"/>
            </a:avLst>
          </a:prstGeom>
          <a:solidFill>
            <a:srgbClr val="ECECDD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0" y="4962823"/>
            <a:ext cx="9683055" cy="285750"/>
          </a:xfrm>
          <a:prstGeom prst="roundRect">
            <a:avLst>
              <a:gd name="adj" fmla="val 50000"/>
            </a:avLst>
          </a:prstGeom>
          <a:solidFill>
            <a:srgbClr val="14502F"/>
          </a:solidFill>
          <a:ln/>
        </p:spPr>
      </p:sp>
      <p:sp>
        <p:nvSpPr>
          <p:cNvPr id="15" name="Text 13"/>
          <p:cNvSpPr/>
          <p:nvPr/>
        </p:nvSpPr>
        <p:spPr>
          <a:xfrm>
            <a:off x="16230600" y="4919960"/>
            <a:ext cx="1219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b="1" kern="0" spc="-51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97.75%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38200" y="5610523"/>
            <a:ext cx="5448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Repositorios </a:t>
            </a:r>
            <a:r>
              <a:rPr lang="en-US" sz="13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AuthDb, OrderDb…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38200" y="5905798"/>
            <a:ext cx="5448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CRUD, cascade y ON CONFLICT cubiertos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6096000" y="5724823"/>
            <a:ext cx="9906000" cy="285750"/>
          </a:xfrm>
          <a:prstGeom prst="roundRect">
            <a:avLst>
              <a:gd name="adj" fmla="val 50000"/>
            </a:avLst>
          </a:prstGeom>
          <a:solidFill>
            <a:srgbClr val="ECECDD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0" y="5724823"/>
            <a:ext cx="9212461" cy="285750"/>
          </a:xfrm>
          <a:prstGeom prst="roundRect">
            <a:avLst>
              <a:gd name="adj" fmla="val 50000"/>
            </a:avLst>
          </a:prstGeom>
          <a:solidFill>
            <a:srgbClr val="2A4737"/>
          </a:solidFill>
          <a:ln/>
        </p:spPr>
      </p:sp>
      <p:sp>
        <p:nvSpPr>
          <p:cNvPr id="20" name="Text 18"/>
          <p:cNvSpPr/>
          <p:nvPr/>
        </p:nvSpPr>
        <p:spPr>
          <a:xfrm>
            <a:off x="16230600" y="5681960"/>
            <a:ext cx="1219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b="1" kern="0" spc="-51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838200" y="6372523"/>
            <a:ext cx="5448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HTTP </a:t>
            </a:r>
            <a:r>
              <a:rPr lang="en-US" sz="13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 minimal APIs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38200" y="6667798"/>
            <a:ext cx="5448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94% · otros entre 60–75%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6096000" y="6486823"/>
            <a:ext cx="9906000" cy="285750"/>
          </a:xfrm>
          <a:prstGeom prst="roundRect">
            <a:avLst>
              <a:gd name="adj" fmla="val 50000"/>
            </a:avLst>
          </a:prstGeom>
          <a:solidFill>
            <a:srgbClr val="ECECDD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0" y="6486823"/>
            <a:ext cx="7231261" cy="285750"/>
          </a:xfrm>
          <a:prstGeom prst="roundRect">
            <a:avLst>
              <a:gd name="adj" fmla="val 50000"/>
            </a:avLst>
          </a:prstGeom>
          <a:solidFill>
            <a:srgbClr val="92E09E"/>
          </a:solidFill>
          <a:ln/>
        </p:spPr>
      </p:sp>
      <p:sp>
        <p:nvSpPr>
          <p:cNvPr id="25" name="Text 23"/>
          <p:cNvSpPr/>
          <p:nvPr/>
        </p:nvSpPr>
        <p:spPr>
          <a:xfrm>
            <a:off x="16230600" y="6443960"/>
            <a:ext cx="1219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b="1" kern="0" spc="-51" dirty="0">
                <a:solidFill>
                  <a:srgbClr val="2A4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838200" y="7134523"/>
            <a:ext cx="5448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/ DTOs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38200" y="7429798"/>
            <a:ext cx="54483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B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Trivial pero contabilizado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6096000" y="7248823"/>
            <a:ext cx="9906000" cy="285750"/>
          </a:xfrm>
          <a:prstGeom prst="roundRect">
            <a:avLst>
              <a:gd name="adj" fmla="val 50000"/>
            </a:avLst>
          </a:prstGeom>
          <a:solidFill>
            <a:srgbClr val="ECECDD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6000" y="7248823"/>
            <a:ext cx="9906000" cy="285750"/>
          </a:xfrm>
          <a:prstGeom prst="roundRect">
            <a:avLst>
              <a:gd name="adj" fmla="val 50000"/>
            </a:avLst>
          </a:prstGeom>
          <a:solidFill>
            <a:srgbClr val="14502F"/>
          </a:solidFill>
          <a:ln/>
        </p:spPr>
      </p:sp>
      <p:sp>
        <p:nvSpPr>
          <p:cNvPr id="30" name="Text 28"/>
          <p:cNvSpPr/>
          <p:nvPr/>
        </p:nvSpPr>
        <p:spPr>
          <a:xfrm>
            <a:off x="16230600" y="7205960"/>
            <a:ext cx="1219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550" b="1" kern="0" spc="-51" dirty="0">
                <a:solidFill>
                  <a:srgbClr val="145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4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3335000" y="7381875"/>
            <a:ext cx="5905500" cy="44291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8200" y="1743819"/>
            <a:ext cx="16611600" cy="9525"/>
          </a:xfrm>
          <a:prstGeom prst="rect">
            <a:avLst/>
          </a:prstGeom>
          <a:solidFill>
            <a:srgbClr val="92E09E">
              <a:alpha val="2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38200" y="685800"/>
            <a:ext cx="59361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COBERTURA GLOBAL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200" y="1009650"/>
            <a:ext cx="5936159" cy="56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50" b="1" kern="0" spc="-101" dirty="0">
                <a:solidFill>
                  <a:srgbClr val="F7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globales del run</a:t>
            </a:r>
            <a:endParaRPr lang="en-US" sz="4050" dirty="0"/>
          </a:p>
        </p:txBody>
      </p:sp>
      <p:sp>
        <p:nvSpPr>
          <p:cNvPr id="6" name="Shape 3"/>
          <p:cNvSpPr/>
          <p:nvPr/>
        </p:nvSpPr>
        <p:spPr>
          <a:xfrm>
            <a:off x="838200" y="2210544"/>
            <a:ext cx="8153400" cy="1962150"/>
          </a:xfrm>
          <a:prstGeom prst="roundRect">
            <a:avLst>
              <a:gd name="adj" fmla="val 9709"/>
            </a:avLst>
          </a:prstGeom>
          <a:solidFill>
            <a:srgbClr val="F7F7EC">
              <a:alpha val="6000"/>
            </a:srgbClr>
          </a:solidFill>
          <a:ln w="9525">
            <a:solidFill>
              <a:srgbClr val="92E09E">
                <a:alpha val="2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28725" y="2810619"/>
            <a:ext cx="15798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coverage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54230" y="2562969"/>
            <a:ext cx="102304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EFF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3900" dirty="0"/>
          </a:p>
        </p:txBody>
      </p:sp>
      <p:sp>
        <p:nvSpPr>
          <p:cNvPr id="9" name="Shape 6"/>
          <p:cNvSpPr/>
          <p:nvPr/>
        </p:nvSpPr>
        <p:spPr>
          <a:xfrm>
            <a:off x="1228725" y="3305919"/>
            <a:ext cx="7372350" cy="190500"/>
          </a:xfrm>
          <a:prstGeom prst="roundRect">
            <a:avLst>
              <a:gd name="adj" fmla="val 50000"/>
            </a:avLst>
          </a:prstGeom>
          <a:solidFill>
            <a:srgbClr val="F7F7EC">
              <a:alpha val="1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228725" y="3305919"/>
            <a:ext cx="6487567" cy="190500"/>
          </a:xfrm>
          <a:prstGeom prst="roundRect">
            <a:avLst>
              <a:gd name="adj" fmla="val 50000"/>
            </a:avLst>
          </a:prstGeom>
          <a:solidFill>
            <a:srgbClr val="EFFF85"/>
          </a:solidFill>
          <a:ln/>
        </p:spPr>
      </p:sp>
      <p:sp>
        <p:nvSpPr>
          <p:cNvPr id="11" name="Text 8"/>
          <p:cNvSpPr/>
          <p:nvPr/>
        </p:nvSpPr>
        <p:spPr>
          <a:xfrm>
            <a:off x="1228725" y="3610719"/>
            <a:ext cx="81095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umbral del taller: 80% ✓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38200" y="4477494"/>
            <a:ext cx="8153400" cy="1952625"/>
          </a:xfrm>
          <a:prstGeom prst="roundRect">
            <a:avLst>
              <a:gd name="adj" fmla="val 9756"/>
            </a:avLst>
          </a:prstGeom>
          <a:solidFill>
            <a:srgbClr val="F7F7EC">
              <a:alpha val="6000"/>
            </a:srgbClr>
          </a:solidFill>
          <a:ln w="9525">
            <a:solidFill>
              <a:srgbClr val="92E09E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28725" y="5077569"/>
            <a:ext cx="190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coverage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54230" y="4829919"/>
            <a:ext cx="102304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F0A8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3900" dirty="0"/>
          </a:p>
        </p:txBody>
      </p:sp>
      <p:sp>
        <p:nvSpPr>
          <p:cNvPr id="15" name="Shape 12"/>
          <p:cNvSpPr/>
          <p:nvPr/>
        </p:nvSpPr>
        <p:spPr>
          <a:xfrm>
            <a:off x="1228725" y="5572869"/>
            <a:ext cx="7372350" cy="190500"/>
          </a:xfrm>
          <a:prstGeom prst="roundRect">
            <a:avLst>
              <a:gd name="adj" fmla="val 50000"/>
            </a:avLst>
          </a:prstGeom>
          <a:solidFill>
            <a:srgbClr val="F7F7EC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228725" y="5572869"/>
            <a:ext cx="4718298" cy="190500"/>
          </a:xfrm>
          <a:prstGeom prst="roundRect">
            <a:avLst>
              <a:gd name="adj" fmla="val 50000"/>
            </a:avLst>
          </a:prstGeom>
          <a:solidFill>
            <a:srgbClr val="F0A847"/>
          </a:solidFill>
          <a:ln/>
        </p:spPr>
      </p:sp>
      <p:sp>
        <p:nvSpPr>
          <p:cNvPr id="17" name="Text 14"/>
          <p:cNvSpPr/>
          <p:nvPr/>
        </p:nvSpPr>
        <p:spPr>
          <a:xfrm>
            <a:off x="1228725" y="5877669"/>
            <a:ext cx="810958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CF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 a vigilar: ramas de OR encadenado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296400" y="2210544"/>
            <a:ext cx="8153400" cy="2336453"/>
          </a:xfrm>
          <a:prstGeom prst="roundRect">
            <a:avLst>
              <a:gd name="adj" fmla="val 8153"/>
            </a:avLst>
          </a:prstGeom>
          <a:solidFill>
            <a:srgbClr val="92E09E">
              <a:alpha val="12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9639300" y="3250109"/>
            <a:ext cx="20902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que pasan</a:t>
            </a:r>
            <a:endParaRPr lang="en-US" sz="1725" dirty="0"/>
          </a:p>
        </p:txBody>
      </p:sp>
      <p:sp>
        <p:nvSpPr>
          <p:cNvPr id="20" name="Text 17"/>
          <p:cNvSpPr/>
          <p:nvPr/>
        </p:nvSpPr>
        <p:spPr>
          <a:xfrm>
            <a:off x="15358467" y="3121521"/>
            <a:ext cx="192327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92E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/ 137</a:t>
            </a:r>
            <a:endParaRPr lang="en-US" sz="3450" dirty="0"/>
          </a:p>
        </p:txBody>
      </p:sp>
      <p:sp>
        <p:nvSpPr>
          <p:cNvPr id="21" name="Shape 18"/>
          <p:cNvSpPr/>
          <p:nvPr/>
        </p:nvSpPr>
        <p:spPr>
          <a:xfrm>
            <a:off x="9296400" y="4737497"/>
            <a:ext cx="8153400" cy="2336602"/>
          </a:xfrm>
          <a:prstGeom prst="roundRect">
            <a:avLst>
              <a:gd name="adj" fmla="val 8153"/>
            </a:avLst>
          </a:prstGeom>
          <a:solidFill>
            <a:srgbClr val="92E09E">
              <a:alpha val="12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639300" y="5777210"/>
            <a:ext cx="20097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que fallan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16871900" y="5648623"/>
            <a:ext cx="311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92E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50" dirty="0"/>
          </a:p>
        </p:txBody>
      </p:sp>
      <p:sp>
        <p:nvSpPr>
          <p:cNvPr id="24" name="Shape 21"/>
          <p:cNvSpPr/>
          <p:nvPr/>
        </p:nvSpPr>
        <p:spPr>
          <a:xfrm>
            <a:off x="9296400" y="7264598"/>
            <a:ext cx="8153400" cy="2336602"/>
          </a:xfrm>
          <a:prstGeom prst="roundRect">
            <a:avLst>
              <a:gd name="adj" fmla="val 8153"/>
            </a:avLst>
          </a:prstGeom>
          <a:solidFill>
            <a:srgbClr val="92E09E">
              <a:alpha val="12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639300" y="8304312"/>
            <a:ext cx="13170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DCF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total</a:t>
            </a:r>
            <a:endParaRPr lang="en-US" sz="1725" dirty="0"/>
          </a:p>
        </p:txBody>
      </p:sp>
      <p:sp>
        <p:nvSpPr>
          <p:cNvPr id="26" name="Text 23"/>
          <p:cNvSpPr/>
          <p:nvPr/>
        </p:nvSpPr>
        <p:spPr>
          <a:xfrm>
            <a:off x="15832187" y="8175724"/>
            <a:ext cx="140218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EFF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min</a:t>
            </a:r>
            <a:endParaRPr lang="en-US" sz="3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74381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685800"/>
            <a:ext cx="70418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145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FORTALEZAS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38200" y="1009650"/>
            <a:ext cx="7041862" cy="56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50" b="1" kern="0" spc="-10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el esquema hace bien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489561" y="1362819"/>
            <a:ext cx="10364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fortalezas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38200" y="2096244"/>
            <a:ext cx="5397401" cy="3647629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4241B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23950" y="23819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4502F"/>
          </a:solidFill>
          <a:ln/>
        </p:spPr>
      </p:sp>
      <p:sp>
        <p:nvSpPr>
          <p:cNvPr id="8" name="Text 6"/>
          <p:cNvSpPr/>
          <p:nvPr/>
        </p:nvSpPr>
        <p:spPr>
          <a:xfrm>
            <a:off x="1085850" y="23819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3950" y="2953494"/>
            <a:ext cx="53084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dominio sólida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3950" y="3296394"/>
            <a:ext cx="4970678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de validadores y calculadores cubiertos: IVA 16%, formato de factura, email y autorización Admin probados en aislamiento, integración y HTTP.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45151" y="2096244"/>
            <a:ext cx="5397550" cy="3647629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4241B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30901" y="23819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4502F"/>
          </a:solidFill>
          <a:ln/>
        </p:spPr>
      </p:sp>
      <p:sp>
        <p:nvSpPr>
          <p:cNvPr id="13" name="Text 11"/>
          <p:cNvSpPr/>
          <p:nvPr/>
        </p:nvSpPr>
        <p:spPr>
          <a:xfrm>
            <a:off x="6692801" y="23819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0901" y="2953494"/>
            <a:ext cx="53086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robusta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30901" y="3296394"/>
            <a:ext cx="4970831" cy="536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Caminos no triviales de SQL: </a:t>
            </a:r>
            <a:r>
              <a:rPr lang="en-US" sz="1200" dirty="0">
                <a:solidFill>
                  <a:srgbClr val="3A4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CONFLICT DO UPDATE</a:t>
            </a: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>
                <a:solidFill>
                  <a:srgbClr val="3A4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 </a:t>
            </a: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transacciones atómicas en AuthorizePayment.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052250" y="2096244"/>
            <a:ext cx="5397550" cy="3647629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4241B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338000" y="2381994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4502F"/>
          </a:solidFill>
          <a:ln/>
        </p:spPr>
      </p:sp>
      <p:sp>
        <p:nvSpPr>
          <p:cNvPr id="18" name="Text 16"/>
          <p:cNvSpPr/>
          <p:nvPr/>
        </p:nvSpPr>
        <p:spPr>
          <a:xfrm>
            <a:off x="12299900" y="2381994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38000" y="2953494"/>
            <a:ext cx="53086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total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38000" y="3296394"/>
            <a:ext cx="4970831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test class arranca con BD limpia (SQLite por archivo, Postgres efímero + TRUNCATE). Sin flakiness por contaminación de estado.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38200" y="5953423"/>
            <a:ext cx="5397401" cy="3647777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4241B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23950" y="623917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4502F"/>
          </a:solidFill>
          <a:ln/>
        </p:spPr>
      </p:sp>
      <p:sp>
        <p:nvSpPr>
          <p:cNvPr id="23" name="Text 21"/>
          <p:cNvSpPr/>
          <p:nvPr/>
        </p:nvSpPr>
        <p:spPr>
          <a:xfrm>
            <a:off x="1085850" y="623917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3950" y="6810673"/>
            <a:ext cx="53084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con WebApplicationFactory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23950" y="7153573"/>
            <a:ext cx="4970678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probados como los consume el frontend: códigos 200/400/401/403/404/409, JSON estructurado y binarios PDF con magic-bytes </a:t>
            </a:r>
            <a:r>
              <a:rPr lang="en-US" sz="1200" dirty="0">
                <a:solidFill>
                  <a:srgbClr val="3A4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%PDF</a:t>
            </a: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45151" y="5953423"/>
            <a:ext cx="5397550" cy="3647777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4241B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30901" y="623917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4502F"/>
          </a:solidFill>
          <a:ln/>
        </p:spPr>
      </p:sp>
      <p:sp>
        <p:nvSpPr>
          <p:cNvPr id="28" name="Text 26"/>
          <p:cNvSpPr/>
          <p:nvPr/>
        </p:nvSpPr>
        <p:spPr>
          <a:xfrm>
            <a:off x="6692801" y="623917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30901" y="6810673"/>
            <a:ext cx="53086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AAA consistente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30901" y="7153573"/>
            <a:ext cx="497083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prueba sigue Arrange–Act–Assert, lo que facilita la lectura y el mantenimiento del suite.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2052250" y="5953423"/>
            <a:ext cx="5397550" cy="3647777"/>
          </a:xfrm>
          <a:prstGeom prst="roundRect">
            <a:avLst>
              <a:gd name="adj" fmla="val 4700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14241B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2338000" y="6239173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4502F"/>
          </a:solidFill>
          <a:ln/>
        </p:spPr>
      </p:sp>
      <p:sp>
        <p:nvSpPr>
          <p:cNvPr id="33" name="Text 31"/>
          <p:cNvSpPr/>
          <p:nvPr/>
        </p:nvSpPr>
        <p:spPr>
          <a:xfrm>
            <a:off x="12299900" y="623917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38000" y="6810673"/>
            <a:ext cx="53086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productivo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338000" y="7153573"/>
            <a:ext cx="4970831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OrderTotalsCalculator, InvoiceNumberGenerator y AuthRequestValidator mejoró testabilidad y legibilidad del código de producción.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1743819"/>
            <a:ext cx="1661160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3" name="Text 1"/>
          <p:cNvSpPr/>
          <p:nvPr/>
        </p:nvSpPr>
        <p:spPr>
          <a:xfrm>
            <a:off x="838200" y="685800"/>
            <a:ext cx="8162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C85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RIESGOS Y DEBILIDADES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838200" y="1009650"/>
            <a:ext cx="8162300" cy="56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50" b="1" kern="0" spc="-10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detectados y documentados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6329571" y="1362819"/>
            <a:ext cx="11964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trabajo futuro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38200" y="5205859"/>
            <a:ext cx="813435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" y="4257377"/>
            <a:ext cx="685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0A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64%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38300" y="4257377"/>
            <a:ext cx="80676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coverage bajo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638300" y="4552652"/>
            <a:ext cx="7554278" cy="519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con </a:t>
            </a:r>
            <a:r>
              <a:rPr lang="en-US" sz="1200" dirty="0">
                <a:solidFill>
                  <a:srgbClr val="3A4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 </a:t>
            </a: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se prueban en su primera rama; cambiar el corto-circuito podría colar bugs.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315450" y="5205859"/>
            <a:ext cx="813435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11" name="Text 9"/>
          <p:cNvSpPr/>
          <p:nvPr/>
        </p:nvSpPr>
        <p:spPr>
          <a:xfrm>
            <a:off x="9315450" y="4257377"/>
            <a:ext cx="685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5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115550" y="4257377"/>
            <a:ext cx="72129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Node.js sin pruebas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0115550" y="4552652"/>
            <a:ext cx="7212940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único de fallo: si corrompe </a:t>
            </a:r>
            <a:r>
              <a:rPr lang="en-US" sz="1200" dirty="0">
                <a:solidFill>
                  <a:srgbClr val="3A4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X-User-Id/Role</a:t>
            </a: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cae la autorización. → Supertest.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8200" y="6523881"/>
            <a:ext cx="813435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" y="5577334"/>
            <a:ext cx="685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0A8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~70%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638300" y="5577334"/>
            <a:ext cx="62129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con cobertura parcial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638300" y="5872609"/>
            <a:ext cx="6212994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CategoryFilter</a:t>
            </a: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>
                <a:solidFill>
                  <a:srgbClr val="3A4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ProductCard </a:t>
            </a: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varios endpoints de </a:t>
            </a:r>
            <a:r>
              <a:rPr lang="en-US" sz="1200" dirty="0">
                <a:solidFill>
                  <a:srgbClr val="3A4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api.ts </a:t>
            </a: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pruebas.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315450" y="6523881"/>
            <a:ext cx="813435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19" name="Text 17"/>
          <p:cNvSpPr/>
          <p:nvPr/>
        </p:nvSpPr>
        <p:spPr>
          <a:xfrm>
            <a:off x="9315450" y="5577334"/>
            <a:ext cx="685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5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115550" y="5577334"/>
            <a:ext cx="80676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E2E real con navegador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0115550" y="5872609"/>
            <a:ext cx="7554278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E2E simulado (Vitest + fetch mock). La interacción real navegador↔gateway↔BD no se valida. → Playwright.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8200" y="7601992"/>
            <a:ext cx="813435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" y="6895356"/>
            <a:ext cx="6858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6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38300" y="6895356"/>
            <a:ext cx="78523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pruebas de carga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638300" y="7190631"/>
            <a:ext cx="785239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benchmarks de rendimiento — relevante para un sistema con autorización de pagos.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315450" y="7601992"/>
            <a:ext cx="8134350" cy="9525"/>
          </a:xfrm>
          <a:prstGeom prst="rect">
            <a:avLst/>
          </a:prstGeom>
          <a:solidFill>
            <a:srgbClr val="E2E2D5"/>
          </a:solidFill>
          <a:ln/>
        </p:spPr>
      </p:sp>
      <p:sp>
        <p:nvSpPr>
          <p:cNvPr id="27" name="Text 25"/>
          <p:cNvSpPr/>
          <p:nvPr/>
        </p:nvSpPr>
        <p:spPr>
          <a:xfrm>
            <a:off x="9315450" y="6895356"/>
            <a:ext cx="6858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6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15550" y="6895356"/>
            <a:ext cx="67268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4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pruebas de seguridad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0115550" y="7190631"/>
            <a:ext cx="6726882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4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valida escalada de privilegios más allá del header, inyección SQL ni CSRF.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4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3000"/>
          </a:blip>
          <a:stretch>
            <a:fillRect/>
          </a:stretch>
        </p:blipFill>
        <p:spPr>
          <a:xfrm>
            <a:off x="-1333500" y="6953250"/>
            <a:ext cx="6477000" cy="485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82664"/>
            <a:ext cx="15506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16" dirty="0">
                <a:solidFill>
                  <a:srgbClr val="EFFF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CONCLUSIÓN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4400" y="3506539"/>
            <a:ext cx="14519910" cy="3178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850" b="1" kern="0" spc="-29" dirty="0">
                <a:solidFill>
                  <a:srgbClr val="EFF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pruebas automatizadas </a:t>
            </a:r>
            <a:r>
              <a:rPr lang="en-US" sz="2850" kern="0" spc="-29" dirty="0">
                <a:solidFill>
                  <a:srgbClr val="F7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distribuidas en los 4 niveles de la guía: 76 unitarias (55%), 25 de integración con BD real (18%), 10 con Moq (7%) y 26 de sistema HTTP (19%). La cobertura de líneas global es del </a:t>
            </a:r>
            <a:r>
              <a:rPr lang="en-US" sz="2850" b="1" kern="0" spc="-29" dirty="0">
                <a:solidFill>
                  <a:srgbClr val="92E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</a:t>
            </a:r>
            <a:r>
              <a:rPr lang="en-US" sz="2850" kern="0" spc="-29" dirty="0">
                <a:solidFill>
                  <a:srgbClr val="F7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sobre el umbral del 80%. Las reglas de negocio están al </a:t>
            </a:r>
            <a:r>
              <a:rPr lang="en-US" sz="2850" b="1" kern="0" spc="-29" dirty="0">
                <a:solidFill>
                  <a:srgbClr val="92E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r>
              <a:rPr lang="en-US" sz="2850" kern="0" spc="-29" dirty="0">
                <a:solidFill>
                  <a:srgbClr val="F7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los repositorios al </a:t>
            </a:r>
            <a:r>
              <a:rPr lang="en-US" sz="2850" b="1" kern="0" spc="-29" dirty="0">
                <a:solidFill>
                  <a:srgbClr val="92E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</a:t>
            </a:r>
            <a:r>
              <a:rPr lang="en-US" sz="2850" kern="0" spc="-29" dirty="0">
                <a:solidFill>
                  <a:srgbClr val="F7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factura PDF al </a:t>
            </a:r>
            <a:r>
              <a:rPr lang="en-US" sz="2850" b="1" kern="0" spc="-29" dirty="0">
                <a:solidFill>
                  <a:srgbClr val="92E0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97.75% </a:t>
            </a:r>
            <a:r>
              <a:rPr lang="en-US" sz="2850" kern="0" spc="-29" dirty="0">
                <a:solidFill>
                  <a:srgbClr val="F7F7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Los gaps principales — gateway Node (0%) y E2E real con navegador — están identificados y documentados como trabajo futuro.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914400" y="7104311"/>
            <a:ext cx="69704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92E0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Muebles-Unisabana · Proyecto de pruebas de integración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1150</Words>
  <Application>Microsoft Office PowerPoint</Application>
  <PresentationFormat>Personalizado</PresentationFormat>
  <Paragraphs>196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EDUARDO GONZÁLEZ MEJIA</cp:lastModifiedBy>
  <cp:revision>1</cp:revision>
  <dcterms:created xsi:type="dcterms:W3CDTF">2026-06-18T00:30:06Z</dcterms:created>
  <dcterms:modified xsi:type="dcterms:W3CDTF">2026-06-20T19:50:07Z</dcterms:modified>
</cp:coreProperties>
</file>